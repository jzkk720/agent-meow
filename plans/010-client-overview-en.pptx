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0000" y="3060000"/>
            <a:ext cx="57600" cy="16920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320000"/>
            <a:ext cx="57600" cy="43200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3168000"/>
            <a:ext cx="10080000" cy="10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4400" b="1" i="0">
                <a:solidFill>
                  <a:srgbClr val="1A1410"/>
                </a:solidFill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agent-meow Voice Agent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36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1800" b="0" i="1">
                <a:solidFill>
                  <a:srgbClr val="FFB347"/>
                </a:solidFill>
              </a:rPr>
              <a:t>Lingchuang K16 + Jubao R16 Dual-Platform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Goal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Deliver a zero-cloud, zero-external-GPU local AI voice agent on two laptops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Date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2026-08-04 · 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Status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Lingchuang K16 plan ready, Jubao R16 under evaluation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Project Goal: What problem are we solving?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Pain point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Voice agent cold-start takes 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90 seconds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 — poor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8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Target outcome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980000"/>
          <a:ext cx="111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08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Voice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90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Instant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(online) / ~8 seconds (offline)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Cloud dependency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Always online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Optional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(works offline)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Operating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API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Zero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(offline mode)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capability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Chat only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Chat + tool calls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(code/files)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0000" y="352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Core value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Voice is the entry point — users speak to interact with AI, AI invokes tools to complete tasks</a:t>
            </a:r>
          </a:p>
        </p:txBody>
      </p:sp>
      <p:sp>
        <p:nvSpPr>
          <p:cNvPr id="8" name="Oval 7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Two Devices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9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72571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Lingchuang 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Jubao 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Positioning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Premium flagship, max model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Best value, CUDA acceleration priority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CPU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AMD Ryzen AI MAX+ 395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AMD Ryzen AI 9 HX 470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Built-in Radeon 8060S (96GB)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Built-in Radeon 890M + </a:t>
                      </a:r>
                    </a:p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RTX 5060 (8GB)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AI chip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NPU (XDNA 2)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NPU (XDNA 2)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2571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32GB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32GB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2574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Strength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96GB VRAM runs the largest models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RTX 5060 native CUDA acceleration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24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Same software, two hardware targets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agent-meow delivers the same functionality on both devices, with different performance profiles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Plan Overview: 4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08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Cloud voice + GPU speech recognition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Parallel development, no inter-dependency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UI integration + hybrid mode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Depends on Phase 1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tool-calling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Depends on 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Local LLM inference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Depends on Phase 3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7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Total effort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5 plans (006–010), estimated 2–4 weeks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Phase 1: Cloud Voice + GPU Acceleration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006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Install voice gateway + Alibaba DashScope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Solve 90-second cold start → </a:t>
            </a:r>
            <a:r>
              <a:rPr sz="1600" b="1" i="0">
                <a:solidFill>
                  <a:srgbClr val="1A1410"/>
                </a:solidFill>
              </a:rPr>
              <a:t>instant response</a:t>
            </a:r>
            <a:r>
              <a:rPr sz="1600" b="0" i="0">
                <a:solidFill>
                  <a:srgbClr val="1A1410"/>
                </a:solidFill>
              </a:rPr>
              <a:t> (cloud always-on)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Excellent Mandarin voice quality, direct connection from China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90-day free trial, then ~¥0.20/minute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008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GPU speech recognition acceleration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808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Lingchuang K16: Move speech recognition onto the GPU with Vulkan (60s → ~3s)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Jubao R16: RTX 5060 supports CUDA natively — </a:t>
            </a:r>
            <a:r>
              <a:rPr sz="1600" b="1" i="0">
                <a:solidFill>
                  <a:srgbClr val="1A1410"/>
                </a:solidFill>
              </a:rPr>
              <a:t>drop-in install</a:t>
            </a:r>
            <a:r>
              <a:rPr sz="1600" b="0" i="0">
                <a:solidFill>
                  <a:srgbClr val="1A1410"/>
                </a:solidFill>
              </a:rPr>
              <a:t> (60s → ~1s)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8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Result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Instant response in online mode, 3–8 second start in offline mode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Phase 2: User Interface + Hybrid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006b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Online/offline auto-switching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Auto-fall-back to offline when cloud is unavailable — no user-visible change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Solves availability issues in mainland-China network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16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007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Keep the MeowCat paw UI, swap the underlying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556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What the user sees stays the same (paw button + waveform animation)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The internal transport layer upgrades to the more mature QAA protocol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Add an online/offline toggle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83999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Result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Consistent user experience, more stable under the hood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Phase 3+4: AI Tool Calling + Local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009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AI voice → tool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User speaks → simple questions get an instant answer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When tools are needed (code/files/search) → run in background → speak the result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AI voice becomes a work interface, not just a chat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412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Plan 010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Local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808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Lingchuang K16: 35B model lives entirely in 96GB VRAM (highest quality)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Jubao R16: Same 35B model, intelligently split between RTX 5060 + system RAM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1" i="0">
                <a:solidFill>
                  <a:srgbClr val="1A1410"/>
                </a:solidFill>
              </a:rPr>
              <a:t>Zero API fees</a:t>
            </a:r>
            <a:r>
              <a:rPr sz="1600" b="0" i="0">
                <a:solidFill>
                  <a:srgbClr val="1A1410"/>
                </a:solidFill>
              </a:rPr>
              <a:t>, fully local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Result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A voice-driven AI agent that executes tasks with zero cloud cost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Final Outcome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88000"/>
          <a:ext cx="11160000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75999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Lingchuang 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Jubao 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Voice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Instant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(online) / ~8s (offline)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Instant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(online) / ~3s (offline)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Speech recognition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GPU ~3s (Vulkan)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GPU ~1s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(CUDA)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AI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35B model (highest quality)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Same 35B model (slightly compressed)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Offline operation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✅ Zero cloud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✅ Zero cloud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76004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Implementation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Medium (compile required)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Simple</a:t>
                      </a:r>
                    </a:p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 (drop-in install)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9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Summary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 Lingchuang K16 chases the highest quality with its huge VRAM; Jubao R16 chases the fastest speed and simplest setup with CUDA</a:t>
            </a:r>
          </a:p>
        </p:txBody>
      </p:sp>
      <p:sp>
        <p:nvSpPr>
          <p:cNvPr id="6" name="Oval 5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Cost &amp;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Development cost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84000"/>
          <a:ext cx="1116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80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Lingchuang K16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Jubao R16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Cloud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90-day free, then ~¥0.20/min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Offline operation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Zero cost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Zero cost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Dev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8651A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2880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Risk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3276000"/>
          <a:ext cx="1116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4140000"/>
                <a:gridCol w="4140000"/>
              </a:tblGrid>
              <a:tr h="288000"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E8651A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Cloud service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Auto-switch to offline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GPU compatibility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Drivers verified on both platforms</a:t>
                      </a:r>
                    </a:p>
                  </a:txBody>
                  <a:tcPr>
                    <a:solidFill>
                      <a:srgbClr val="FFF6E3"/>
                    </a:solidFill>
                  </a:tcPr>
                </a:tc>
              </a:tr>
              <a:tr h="288000"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Model performance insufficient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410"/>
                          </a:solidFill>
                        </a:rPr>
                        <a:t>Can switch to a smaller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60000"/>
            <a:ext cx="11160000" cy="54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3000" b="1" i="0">
                <a:solidFill>
                  <a:srgbClr val="1A1410"/>
                </a:solidFill>
              </a:rPr>
              <a:t>Project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72000"/>
            <a:ext cx="12192119" cy="43200"/>
          </a:xfrm>
          <a:prstGeom prst="rect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188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agent-meow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 is a voice-first AI agent — users speak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💬 </a:t>
            </a:r>
            <a:r>
              <a:rPr sz="1600" b="1" i="0">
                <a:solidFill>
                  <a:srgbClr val="1A1410"/>
                </a:solidFill>
              </a:rPr>
              <a:t>Chat</a:t>
            </a:r>
            <a:r>
              <a:rPr sz="1600" b="0" i="0">
                <a:solidFill>
                  <a:srgbClr val="1A1410"/>
                </a:solidFill>
              </a:rPr>
              <a:t>: Natural language conversation, bilingual EN/ZH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🔧 </a:t>
            </a:r>
            <a:r>
              <a:rPr sz="1600" b="1" i="0">
                <a:solidFill>
                  <a:srgbClr val="1A1410"/>
                </a:solidFill>
              </a:rPr>
              <a:t>Execute tasks</a:t>
            </a:r>
            <a:r>
              <a:rPr sz="1600" b="0" i="0">
                <a:solidFill>
                  <a:srgbClr val="1A1410"/>
                </a:solidFill>
              </a:rPr>
              <a:t>: Invoke code, files, search, and other tools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🏠 </a:t>
            </a:r>
            <a:r>
              <a:rPr sz="1600" b="1" i="0">
                <a:solidFill>
                  <a:srgbClr val="1A1410"/>
                </a:solidFill>
              </a:rPr>
              <a:t>Fully local</a:t>
            </a:r>
            <a:r>
              <a:rPr sz="1600" b="0" i="0">
                <a:solidFill>
                  <a:srgbClr val="1A1410"/>
                </a:solidFill>
              </a:rPr>
              <a:t>: Works offline, zero cloud fees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🎨 </a:t>
            </a:r>
            <a:r>
              <a:rPr sz="1600" b="1" i="0">
                <a:solidFill>
                  <a:srgbClr val="1A1410"/>
                </a:solidFill>
              </a:rPr>
              <a:t>Brand experience</a:t>
            </a:r>
            <a:r>
              <a:rPr sz="1600" b="0" i="0">
                <a:solidFill>
                  <a:srgbClr val="1A1410"/>
                </a:solidFill>
              </a:rPr>
              <a:t>: MeowCat paw UI, distinctive interaction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664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1A1410"/>
                </a:solidFill>
              </a:rPr>
              <a:t>Dual-platform coverage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3060000"/>
            <a:ext cx="109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Lingchuang K16 for power users (96GB VRAM, max-size models)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E8651A"/>
                </a:solidFill>
              </a:rPr>
              <a:t>▸ </a:t>
            </a:r>
            <a:r>
              <a:rPr sz="1600" b="0" i="0">
                <a:solidFill>
                  <a:srgbClr val="1A1410"/>
                </a:solidFill>
              </a:rPr>
              <a:t>Jubao R16 for mainstream users (RTX 5060 CUDA, best price/perf)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636000"/>
            <a:ext cx="11160000" cy="43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A1410"/>
                </a:solidFill>
              </a:rPr>
              <a:t>Same software on both platforms, same user experience, tuned to different hardware.</a:t>
            </a:r>
          </a:p>
        </p:txBody>
      </p:sp>
      <p:sp>
        <p:nvSpPr>
          <p:cNvPr id="9" name="Oval 8"/>
          <p:cNvSpPr/>
          <p:nvPr/>
        </p:nvSpPr>
        <p:spPr>
          <a:xfrm>
            <a:off x="216000" y="6263999"/>
            <a:ext cx="64800" cy="64800"/>
          </a:xfrm>
          <a:prstGeom prst="ellipse">
            <a:avLst/>
          </a:prstGeom>
          <a:solidFill>
            <a:srgbClr val="E86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6210000"/>
            <a:ext cx="54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l"/>
            <a:r>
              <a:rPr sz="900" b="0" i="0">
                <a:solidFill>
                  <a:srgbClr val="9A8B7A"/>
                </a:solidFill>
              </a:rPr>
              <a:t>agent-meow · 010-client-overview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0" y="6210000"/>
            <a:ext cx="1800000" cy="180000"/>
          </a:xfrm>
          <a:prstGeom prst="rect">
            <a:avLst/>
          </a:prstGeom>
          <a:noFill/>
        </p:spPr>
        <p:txBody>
          <a:bodyPr wrap="square" lIns="72000" rIns="72000" tIns="18000" bIns="18000">
            <a:spAutoFit/>
          </a:bodyPr>
          <a:lstStyle/>
          <a:p>
            <a:pPr algn="r"/>
            <a:r>
              <a:rPr sz="900" b="0" i="0">
                <a:solidFill>
                  <a:srgbClr val="9A8B7A"/>
                </a:solidFill>
              </a:rPr>
              <a:t>11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