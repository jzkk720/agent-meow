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0000" y="3060000"/>
            <a:ext cx="57600" cy="1692000"/>
          </a:xfrm>
          <a:prstGeom prst="rect">
            <a:avLst/>
          </a:prstGeom>
          <a:solidFill>
            <a:srgbClr val="E86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0000" y="4320000"/>
            <a:ext cx="57600" cy="432000"/>
          </a:xfrm>
          <a:prstGeom prst="rect">
            <a:avLst/>
          </a:prstGeom>
          <a:solidFill>
            <a:srgbClr val="FFB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92000" y="3168000"/>
            <a:ext cx="10080000" cy="1080000"/>
          </a:xfrm>
          <a:prstGeom prst="rect">
            <a:avLst/>
          </a:prstGeom>
          <a:noFill/>
        </p:spPr>
        <p:txBody>
          <a:bodyPr wrap="square" lIns="72000" rIns="72000" tIns="18000" bIns="18000">
            <a:spAutoFit/>
          </a:bodyPr>
          <a:lstStyle/>
          <a:p>
            <a:pPr algn="l"/>
            <a:r>
              <a:rPr sz="4400" b="1" i="0">
                <a:solidFill>
                  <a:srgbClr val="1A1410"/>
                </a:solidFill>
              </a:rPr>
              <a:t/>
            </a:r>
          </a:p>
        </p:txBody>
      </p:sp>
      <p:sp>
        <p:nvSpPr>
          <p:cNvPr id="5" name="Oval 4"/>
          <p:cNvSpPr/>
          <p:nvPr/>
        </p:nvSpPr>
        <p:spPr>
          <a:xfrm>
            <a:off x="216000" y="6263999"/>
            <a:ext cx="64800" cy="64800"/>
          </a:xfrm>
          <a:prstGeom prst="ellipse">
            <a:avLst/>
          </a:prstGeom>
          <a:solidFill>
            <a:srgbClr val="E86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4000" y="6210000"/>
            <a:ext cx="5400000" cy="180000"/>
          </a:xfrm>
          <a:prstGeom prst="rect">
            <a:avLst/>
          </a:prstGeom>
          <a:noFill/>
        </p:spPr>
        <p:txBody>
          <a:bodyPr wrap="square" lIns="72000" rIns="72000" tIns="18000" bIns="18000">
            <a:spAutoFit/>
          </a:bodyPr>
          <a:lstStyle/>
          <a:p>
            <a:pPr algn="l"/>
            <a:r>
              <a:rPr sz="900" b="0" i="0">
                <a:solidFill>
                  <a:srgbClr val="9A8B7A"/>
                </a:solidFill>
              </a:rPr>
              <a:t>agent-meow · 010-client-overview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00000" y="6210000"/>
            <a:ext cx="1800000" cy="180000"/>
          </a:xfrm>
          <a:prstGeom prst="rect">
            <a:avLst/>
          </a:prstGeom>
          <a:noFill/>
        </p:spPr>
        <p:txBody>
          <a:bodyPr wrap="square" lIns="72000" rIns="72000" tIns="18000" bIns="18000">
            <a:spAutoFit/>
          </a:bodyPr>
          <a:lstStyle/>
          <a:p>
            <a:pPr algn="r"/>
            <a:r>
              <a:rPr sz="900" b="0" i="0">
                <a:solidFill>
                  <a:srgbClr val="9A8B7A"/>
                </a:solidFill>
              </a:rPr>
              <a:t>1 / 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360000"/>
            <a:ext cx="11160000" cy="540000"/>
          </a:xfrm>
          <a:prstGeom prst="rect">
            <a:avLst/>
          </a:prstGeom>
          <a:noFill/>
        </p:spPr>
        <p:txBody>
          <a:bodyPr wrap="square" lIns="72000" rIns="72000" tIns="18000" bIns="18000">
            <a:spAutoFit/>
          </a:bodyPr>
          <a:lstStyle/>
          <a:p>
            <a:pPr algn="l"/>
            <a:r>
              <a:rPr sz="3000" b="1" i="0">
                <a:solidFill>
                  <a:srgbClr val="1A1410"/>
                </a:solidFill>
              </a:rPr>
              <a:t>agent-meow 语音代理项目概览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72000"/>
            <a:ext cx="12192119" cy="43200"/>
          </a:xfrm>
          <a:prstGeom prst="rect">
            <a:avLst/>
          </a:prstGeom>
          <a:solidFill>
            <a:srgbClr val="E86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0000" y="1188000"/>
            <a:ext cx="11160000" cy="360000"/>
          </a:xfrm>
          <a:prstGeom prst="rect">
            <a:avLst/>
          </a:prstGeom>
          <a:noFill/>
        </p:spPr>
        <p:txBody>
          <a:bodyPr wrap="square" lIns="72000" rIns="72000" tIns="18000" bIns="18000">
            <a:spAutoFit/>
          </a:bodyPr>
          <a:lstStyle/>
          <a:p>
            <a:pPr algn="l"/>
            <a:r>
              <a:rPr sz="1800" b="0" i="1">
                <a:solidFill>
                  <a:srgbClr val="FFB347"/>
                </a:solidFill>
              </a:rPr>
              <a:t>灵创K16 + 橘宝R16 双平台方案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0000" y="1512000"/>
            <a:ext cx="11160000" cy="432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1" i="0">
                <a:solidFill>
                  <a:srgbClr val="1A1410"/>
                </a:solidFill>
              </a:rPr>
              <a:t>目标</a:t>
            </a:r>
          </a:p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1A1410"/>
                </a:solidFill>
              </a:rPr>
              <a:t>：在两台笔记本上实现零云端、零外部 GPU 的本地 AI 语音代理</a:t>
            </a:r>
          </a:p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1A1410"/>
                </a:solidFill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1600" b="1" i="0">
                <a:solidFill>
                  <a:srgbClr val="1A1410"/>
                </a:solidFill>
              </a:rPr>
              <a:t>日期</a:t>
            </a:r>
          </a:p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1A1410"/>
                </a:solidFill>
              </a:rPr>
              <a:t>：2026-08-04 · </a:t>
            </a:r>
          </a:p>
          <a:p>
            <a:pPr algn="l">
              <a:lnSpc>
                <a:spcPct val="130000"/>
              </a:lnSpc>
            </a:pPr>
            <a:r>
              <a:rPr sz="1600" b="1" i="0">
                <a:solidFill>
                  <a:srgbClr val="1A1410"/>
                </a:solidFill>
              </a:rPr>
              <a:t>状态</a:t>
            </a:r>
          </a:p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1A1410"/>
                </a:solidFill>
              </a:rPr>
              <a:t>：灵创K16 方案已就绪，橘宝R16 评估中</a:t>
            </a:r>
          </a:p>
        </p:txBody>
      </p:sp>
      <p:sp>
        <p:nvSpPr>
          <p:cNvPr id="6" name="Oval 5"/>
          <p:cNvSpPr/>
          <p:nvPr/>
        </p:nvSpPr>
        <p:spPr>
          <a:xfrm>
            <a:off x="216000" y="6263999"/>
            <a:ext cx="64800" cy="64800"/>
          </a:xfrm>
          <a:prstGeom prst="ellipse">
            <a:avLst/>
          </a:prstGeom>
          <a:solidFill>
            <a:srgbClr val="E86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4000" y="6210000"/>
            <a:ext cx="5400000" cy="180000"/>
          </a:xfrm>
          <a:prstGeom prst="rect">
            <a:avLst/>
          </a:prstGeom>
          <a:noFill/>
        </p:spPr>
        <p:txBody>
          <a:bodyPr wrap="square" lIns="72000" rIns="72000" tIns="18000" bIns="18000">
            <a:spAutoFit/>
          </a:bodyPr>
          <a:lstStyle/>
          <a:p>
            <a:pPr algn="l"/>
            <a:r>
              <a:rPr sz="900" b="0" i="0">
                <a:solidFill>
                  <a:srgbClr val="9A8B7A"/>
                </a:solidFill>
              </a:rPr>
              <a:t>agent-meow · 010-client-overview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00000" y="6210000"/>
            <a:ext cx="1800000" cy="180000"/>
          </a:xfrm>
          <a:prstGeom prst="rect">
            <a:avLst/>
          </a:prstGeom>
          <a:noFill/>
        </p:spPr>
        <p:txBody>
          <a:bodyPr wrap="square" lIns="72000" rIns="72000" tIns="18000" bIns="18000">
            <a:spAutoFit/>
          </a:bodyPr>
          <a:lstStyle/>
          <a:p>
            <a:pPr algn="r"/>
            <a:r>
              <a:rPr sz="900" b="0" i="0">
                <a:solidFill>
                  <a:srgbClr val="9A8B7A"/>
                </a:solidFill>
              </a:rPr>
              <a:t>2 /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360000"/>
            <a:ext cx="11160000" cy="540000"/>
          </a:xfrm>
          <a:prstGeom prst="rect">
            <a:avLst/>
          </a:prstGeom>
          <a:noFill/>
        </p:spPr>
        <p:txBody>
          <a:bodyPr wrap="square" lIns="72000" rIns="72000" tIns="18000" bIns="18000">
            <a:spAutoFit/>
          </a:bodyPr>
          <a:lstStyle/>
          <a:p>
            <a:pPr algn="l"/>
            <a:r>
              <a:rPr sz="3000" b="1" i="0">
                <a:solidFill>
                  <a:srgbClr val="1A1410"/>
                </a:solidFill>
              </a:rPr>
              <a:t>项目目标：解决什么问题？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72000"/>
            <a:ext cx="12192119" cy="43200"/>
          </a:xfrm>
          <a:prstGeom prst="rect">
            <a:avLst/>
          </a:prstGeom>
          <a:solidFill>
            <a:srgbClr val="E86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0000" y="1188000"/>
            <a:ext cx="11160000" cy="432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1" i="0">
                <a:solidFill>
                  <a:srgbClr val="1A1410"/>
                </a:solidFill>
              </a:rPr>
              <a:t>当前痛点</a:t>
            </a:r>
          </a:p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1A1410"/>
                </a:solidFill>
              </a:rPr>
              <a:t>：语音代理冷启动需 </a:t>
            </a:r>
          </a:p>
          <a:p>
            <a:pPr algn="l">
              <a:lnSpc>
                <a:spcPct val="130000"/>
              </a:lnSpc>
            </a:pPr>
            <a:r>
              <a:rPr sz="1600" b="1" i="0">
                <a:solidFill>
                  <a:srgbClr val="1A1410"/>
                </a:solidFill>
              </a:rPr>
              <a:t>90 秒</a:t>
            </a:r>
          </a:p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1A1410"/>
                </a:solidFill>
              </a:rPr>
              <a:t>，用户体验差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0000" y="1584000"/>
            <a:ext cx="11160000" cy="432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1" i="0">
                <a:solidFill>
                  <a:srgbClr val="1A1410"/>
                </a:solidFill>
              </a:rPr>
              <a:t>目标效果</a:t>
            </a:r>
          </a:p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1A1410"/>
                </a:solidFill>
              </a:rPr>
              <a:t>：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0000" y="1980000"/>
          <a:ext cx="11160000" cy="140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80000"/>
                <a:gridCol w="4140000"/>
                <a:gridCol w="4140000"/>
              </a:tblGrid>
              <a:tr h="280800">
                <a:tc>
                  <a:txBody>
                    <a:bodyPr lIns="36000" rIns="36000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</a:rPr>
                        <a:t>指标</a:t>
                      </a:r>
                    </a:p>
                  </a:txBody>
                  <a:tcPr>
                    <a:solidFill>
                      <a:srgbClr val="E8651A"/>
                    </a:solidFill>
                  </a:tcPr>
                </a:tc>
                <a:tc>
                  <a:txBody>
                    <a:bodyPr lIns="36000" rIns="36000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</a:rPr>
                        <a:t>当前</a:t>
                      </a:r>
                    </a:p>
                  </a:txBody>
                  <a:tcPr>
                    <a:solidFill>
                      <a:srgbClr val="E8651A"/>
                    </a:solidFill>
                  </a:tcPr>
                </a:tc>
                <a:tc>
                  <a:txBody>
                    <a:bodyPr lIns="36000" rIns="36000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</a:rPr>
                        <a:t>目标</a:t>
                      </a:r>
                    </a:p>
                  </a:txBody>
                  <a:tcPr>
                    <a:solidFill>
                      <a:srgbClr val="E8651A"/>
                    </a:solidFill>
                  </a:tcPr>
                </a:tc>
              </a:tr>
              <a:tr h="280800">
                <a:tc>
                  <a:txBody>
                    <a:bodyPr lIns="36000" rIns="36000"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A1410"/>
                          </a:solidFill>
                        </a:rPr>
                        <a:t>语音启动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E8651A"/>
                          </a:solidFill>
                        </a:rPr>
                        <a:t>90 秒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E8651A"/>
                          </a:solidFill>
                        </a:rPr>
                        <a:t>即时</a:t>
                      </a:r>
                    </a:p>
                    <a:p>
                      <a:pPr algn="l"/>
                      <a:r>
                        <a:rPr sz="1200" b="0" i="0">
                          <a:solidFill>
                            <a:srgbClr val="1A1410"/>
                          </a:solidFill>
                        </a:rPr>
                        <a:t>（在线）/ ~8 秒（离线）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0800">
                <a:tc>
                  <a:txBody>
                    <a:bodyPr lIns="36000" rIns="36000"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A1410"/>
                          </a:solidFill>
                        </a:rPr>
                        <a:t>云端依赖</a:t>
                      </a:r>
                    </a:p>
                  </a:txBody>
                  <a:tcPr>
                    <a:solidFill>
                      <a:srgbClr val="FFF6E3"/>
                    </a:solidFill>
                  </a:tcPr>
                </a:tc>
                <a:tc>
                  <a:txBody>
                    <a:bodyPr lIns="36000" rIns="36000"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A1410"/>
                          </a:solidFill>
                        </a:rPr>
                        <a:t>必须联网</a:t>
                      </a:r>
                    </a:p>
                  </a:txBody>
                  <a:tcPr>
                    <a:solidFill>
                      <a:srgbClr val="FFF6E3"/>
                    </a:solidFill>
                  </a:tcPr>
                </a:tc>
                <a:tc>
                  <a:txBody>
                    <a:bodyPr lIns="36000" rIns="36000"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E8651A"/>
                          </a:solidFill>
                        </a:rPr>
                        <a:t>可选</a:t>
                      </a:r>
                    </a:p>
                    <a:p>
                      <a:pPr algn="l"/>
                      <a:r>
                        <a:rPr sz="1200" b="0" i="0">
                          <a:solidFill>
                            <a:srgbClr val="1A1410"/>
                          </a:solidFill>
                        </a:rPr>
                        <a:t>（离线可用）</a:t>
                      </a:r>
                    </a:p>
                  </a:txBody>
                  <a:tcPr>
                    <a:solidFill>
                      <a:srgbClr val="FFF6E3"/>
                    </a:solidFill>
                  </a:tcPr>
                </a:tc>
              </a:tr>
              <a:tr h="280800">
                <a:tc>
                  <a:txBody>
                    <a:bodyPr lIns="36000" rIns="36000"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A1410"/>
                          </a:solidFill>
                        </a:rPr>
                        <a:t>运行成本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A1410"/>
                          </a:solidFill>
                        </a:rPr>
                        <a:t>API 持续计费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E8651A"/>
                          </a:solidFill>
                        </a:rPr>
                        <a:t>零</a:t>
                      </a:r>
                    </a:p>
                    <a:p>
                      <a:pPr algn="l"/>
                      <a:r>
                        <a:rPr sz="1200" b="0" i="0">
                          <a:solidFill>
                            <a:srgbClr val="1A1410"/>
                          </a:solidFill>
                        </a:rPr>
                        <a:t>（离线模式）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0800">
                <a:tc>
                  <a:txBody>
                    <a:bodyPr lIns="36000" rIns="36000"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A1410"/>
                          </a:solidFill>
                        </a:rPr>
                        <a:t>AI 能力</a:t>
                      </a:r>
                    </a:p>
                  </a:txBody>
                  <a:tcPr>
                    <a:solidFill>
                      <a:srgbClr val="FFF6E3"/>
                    </a:solidFill>
                  </a:tcPr>
                </a:tc>
                <a:tc>
                  <a:txBody>
                    <a:bodyPr lIns="36000" rIns="36000"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A1410"/>
                          </a:solidFill>
                        </a:rPr>
                        <a:t>仅对话</a:t>
                      </a:r>
                    </a:p>
                  </a:txBody>
                  <a:tcPr>
                    <a:solidFill>
                      <a:srgbClr val="FFF6E3"/>
                    </a:solidFill>
                  </a:tcPr>
                </a:tc>
                <a:tc>
                  <a:txBody>
                    <a:bodyPr lIns="36000" rIns="36000"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E8651A"/>
                          </a:solidFill>
                        </a:rPr>
                        <a:t>对话 + 工具调用</a:t>
                      </a:r>
                    </a:p>
                    <a:p>
                      <a:pPr algn="l"/>
                      <a:r>
                        <a:rPr sz="1200" b="0" i="0">
                          <a:solidFill>
                            <a:srgbClr val="1A1410"/>
                          </a:solidFill>
                        </a:rPr>
                        <a:t>（代码/文件）</a:t>
                      </a:r>
                    </a:p>
                  </a:txBody>
                  <a:tcPr>
                    <a:solidFill>
                      <a:srgbClr val="FFF6E3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0000" y="3528000"/>
            <a:ext cx="11160000" cy="432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1" i="0">
                <a:solidFill>
                  <a:srgbClr val="1A1410"/>
                </a:solidFill>
              </a:rPr>
              <a:t>核心价值</a:t>
            </a:r>
          </a:p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1A1410"/>
                </a:solidFill>
              </a:rPr>
              <a:t>：语音即入口 — 用户说话即可与 AI 交互，AI 可调用工具完成任务</a:t>
            </a:r>
          </a:p>
        </p:txBody>
      </p:sp>
      <p:sp>
        <p:nvSpPr>
          <p:cNvPr id="8" name="Oval 7"/>
          <p:cNvSpPr/>
          <p:nvPr/>
        </p:nvSpPr>
        <p:spPr>
          <a:xfrm>
            <a:off x="216000" y="6263999"/>
            <a:ext cx="64800" cy="64800"/>
          </a:xfrm>
          <a:prstGeom prst="ellipse">
            <a:avLst/>
          </a:prstGeom>
          <a:solidFill>
            <a:srgbClr val="E86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4000" y="6210000"/>
            <a:ext cx="5400000" cy="180000"/>
          </a:xfrm>
          <a:prstGeom prst="rect">
            <a:avLst/>
          </a:prstGeom>
          <a:noFill/>
        </p:spPr>
        <p:txBody>
          <a:bodyPr wrap="square" lIns="72000" rIns="72000" tIns="18000" bIns="18000">
            <a:spAutoFit/>
          </a:bodyPr>
          <a:lstStyle/>
          <a:p>
            <a:pPr algn="l"/>
            <a:r>
              <a:rPr sz="900" b="0" i="0">
                <a:solidFill>
                  <a:srgbClr val="9A8B7A"/>
                </a:solidFill>
              </a:rPr>
              <a:t>agent-meow · 010-client-overview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00000" y="6210000"/>
            <a:ext cx="1800000" cy="180000"/>
          </a:xfrm>
          <a:prstGeom prst="rect">
            <a:avLst/>
          </a:prstGeom>
          <a:noFill/>
        </p:spPr>
        <p:txBody>
          <a:bodyPr wrap="square" lIns="72000" rIns="72000" tIns="18000" bIns="18000">
            <a:spAutoFit/>
          </a:bodyPr>
          <a:lstStyle/>
          <a:p>
            <a:pPr algn="r"/>
            <a:r>
              <a:rPr sz="900" b="0" i="0">
                <a:solidFill>
                  <a:srgbClr val="9A8B7A"/>
                </a:solidFill>
              </a:rPr>
              <a:t>3 /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360000"/>
            <a:ext cx="11160000" cy="540000"/>
          </a:xfrm>
          <a:prstGeom prst="rect">
            <a:avLst/>
          </a:prstGeom>
          <a:noFill/>
        </p:spPr>
        <p:txBody>
          <a:bodyPr wrap="square" lIns="72000" rIns="72000" tIns="18000" bIns="18000">
            <a:spAutoFit/>
          </a:bodyPr>
          <a:lstStyle/>
          <a:p>
            <a:pPr algn="l"/>
            <a:r>
              <a:rPr sz="3000" b="1" i="0">
                <a:solidFill>
                  <a:srgbClr val="1A1410"/>
                </a:solidFill>
              </a:rPr>
              <a:t>两台设备一览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72000"/>
            <a:ext cx="12192119" cy="43200"/>
          </a:xfrm>
          <a:prstGeom prst="rect">
            <a:avLst/>
          </a:prstGeom>
          <a:solidFill>
            <a:srgbClr val="E86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0000" y="1188000"/>
          <a:ext cx="11160000" cy="190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80000"/>
                <a:gridCol w="4140000"/>
                <a:gridCol w="4140000"/>
              </a:tblGrid>
              <a:tr h="272571">
                <a:tc>
                  <a:txBody>
                    <a:bodyPr lIns="36000" rIns="36000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E8651A"/>
                    </a:solidFill>
                  </a:tcPr>
                </a:tc>
                <a:tc>
                  <a:txBody>
                    <a:bodyPr lIns="36000" rIns="36000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</a:rPr>
                        <a:t>灵创K16</a:t>
                      </a:r>
                    </a:p>
                  </a:txBody>
                  <a:tcPr>
                    <a:solidFill>
                      <a:srgbClr val="E8651A"/>
                    </a:solidFill>
                  </a:tcPr>
                </a:tc>
                <a:tc>
                  <a:txBody>
                    <a:bodyPr lIns="36000" rIns="36000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</a:rPr>
                        <a:t>橘宝R16</a:t>
                      </a:r>
                    </a:p>
                  </a:txBody>
                  <a:tcPr>
                    <a:solidFill>
                      <a:srgbClr val="E8651A"/>
                    </a:solidFill>
                  </a:tcPr>
                </a:tc>
              </a:tr>
              <a:tr h="272571">
                <a:tc>
                  <a:txBody>
                    <a:bodyPr lIns="36000" rIns="36000"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E8651A"/>
                          </a:solidFill>
                        </a:rPr>
                        <a:t>定位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A1410"/>
                          </a:solidFill>
                        </a:rPr>
                        <a:t>高端旗舰，大模型质量优先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A1410"/>
                          </a:solidFill>
                        </a:rPr>
                        <a:t>性价比之选，CUDA 加速优先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2571">
                <a:tc>
                  <a:txBody>
                    <a:bodyPr lIns="36000" rIns="36000"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E8651A"/>
                          </a:solidFill>
                        </a:rPr>
                        <a:t>处理器</a:t>
                      </a:r>
                    </a:p>
                  </a:txBody>
                  <a:tcPr>
                    <a:solidFill>
                      <a:srgbClr val="FFF6E3"/>
                    </a:solidFill>
                  </a:tcPr>
                </a:tc>
                <a:tc>
                  <a:txBody>
                    <a:bodyPr lIns="36000" rIns="36000"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A1410"/>
                          </a:solidFill>
                        </a:rPr>
                        <a:t>AMD Ryzen AI MAX+ 395</a:t>
                      </a:r>
                    </a:p>
                  </a:txBody>
                  <a:tcPr>
                    <a:solidFill>
                      <a:srgbClr val="FFF6E3"/>
                    </a:solidFill>
                  </a:tcPr>
                </a:tc>
                <a:tc>
                  <a:txBody>
                    <a:bodyPr lIns="36000" rIns="36000"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A1410"/>
                          </a:solidFill>
                        </a:rPr>
                        <a:t>AMD Ryzen AI 9 HX 470</a:t>
                      </a:r>
                    </a:p>
                  </a:txBody>
                  <a:tcPr>
                    <a:solidFill>
                      <a:srgbClr val="FFF6E3"/>
                    </a:solidFill>
                  </a:tcPr>
                </a:tc>
              </a:tr>
              <a:tr h="272571">
                <a:tc>
                  <a:txBody>
                    <a:bodyPr lIns="36000" rIns="36000"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E8651A"/>
                          </a:solidFill>
                        </a:rPr>
                        <a:t>显卡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A1410"/>
                          </a:solidFill>
                        </a:rPr>
                        <a:t>内置 Radeon 8060S (96GB)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A1410"/>
                          </a:solidFill>
                        </a:rPr>
                        <a:t>内置 Radeon 890M + </a:t>
                      </a:r>
                    </a:p>
                    <a:p>
                      <a:pPr algn="l"/>
                      <a:r>
                        <a:rPr sz="1200" b="1" i="0">
                          <a:solidFill>
                            <a:srgbClr val="E8651A"/>
                          </a:solidFill>
                        </a:rPr>
                        <a:t>RTX 5060 (8GB)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2571">
                <a:tc>
                  <a:txBody>
                    <a:bodyPr lIns="36000" rIns="36000"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E8651A"/>
                          </a:solidFill>
                        </a:rPr>
                        <a:t>AI 芯片</a:t>
                      </a:r>
                    </a:p>
                  </a:txBody>
                  <a:tcPr>
                    <a:solidFill>
                      <a:srgbClr val="FFF6E3"/>
                    </a:solidFill>
                  </a:tcPr>
                </a:tc>
                <a:tc>
                  <a:txBody>
                    <a:bodyPr lIns="36000" rIns="36000"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A1410"/>
                          </a:solidFill>
                        </a:rPr>
                        <a:t>NPU (XDNA 2)</a:t>
                      </a:r>
                    </a:p>
                  </a:txBody>
                  <a:tcPr>
                    <a:solidFill>
                      <a:srgbClr val="FFF6E3"/>
                    </a:solidFill>
                  </a:tcPr>
                </a:tc>
                <a:tc>
                  <a:txBody>
                    <a:bodyPr lIns="36000" rIns="36000"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A1410"/>
                          </a:solidFill>
                        </a:rPr>
                        <a:t>NPU (XDNA 2)</a:t>
                      </a:r>
                    </a:p>
                  </a:txBody>
                  <a:tcPr>
                    <a:solidFill>
                      <a:srgbClr val="FFF6E3"/>
                    </a:solidFill>
                  </a:tcPr>
                </a:tc>
              </a:tr>
              <a:tr h="272571">
                <a:tc>
                  <a:txBody>
                    <a:bodyPr lIns="36000" rIns="36000"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E8651A"/>
                          </a:solidFill>
                        </a:rPr>
                        <a:t>内存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A1410"/>
                          </a:solidFill>
                        </a:rPr>
                        <a:t>32GB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A1410"/>
                          </a:solidFill>
                        </a:rPr>
                        <a:t>32GB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2574">
                <a:tc>
                  <a:txBody>
                    <a:bodyPr lIns="36000" rIns="36000"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E8651A"/>
                          </a:solidFill>
                        </a:rPr>
                        <a:t>优势</a:t>
                      </a:r>
                    </a:p>
                  </a:txBody>
                  <a:tcPr>
                    <a:solidFill>
                      <a:srgbClr val="FFF6E3"/>
                    </a:solidFill>
                  </a:tcPr>
                </a:tc>
                <a:tc>
                  <a:txBody>
                    <a:bodyPr lIns="36000" rIns="36000"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A1410"/>
                          </a:solidFill>
                        </a:rPr>
                        <a:t>96GB 显存跑最大模型</a:t>
                      </a:r>
                    </a:p>
                  </a:txBody>
                  <a:tcPr>
                    <a:solidFill>
                      <a:srgbClr val="FFF6E3"/>
                    </a:solidFill>
                  </a:tcPr>
                </a:tc>
                <a:tc>
                  <a:txBody>
                    <a:bodyPr lIns="36000" rIns="36000"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A1410"/>
                          </a:solidFill>
                        </a:rPr>
                        <a:t>RTX 5060 CUDA 原生加速</a:t>
                      </a:r>
                    </a:p>
                  </a:txBody>
                  <a:tcPr>
                    <a:solidFill>
                      <a:srgbClr val="FFF6E3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0000" y="3240000"/>
            <a:ext cx="11160000" cy="432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1" i="0">
                <a:solidFill>
                  <a:srgbClr val="1A1410"/>
                </a:solidFill>
              </a:rPr>
              <a:t>同一软件，两种硬件</a:t>
            </a:r>
          </a:p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1A1410"/>
                </a:solidFill>
              </a:rPr>
              <a:t>：agent-meow 在两台设备上提供相同功能，性能特征不同</a:t>
            </a:r>
          </a:p>
        </p:txBody>
      </p:sp>
      <p:sp>
        <p:nvSpPr>
          <p:cNvPr id="6" name="Oval 5"/>
          <p:cNvSpPr/>
          <p:nvPr/>
        </p:nvSpPr>
        <p:spPr>
          <a:xfrm>
            <a:off x="216000" y="6263999"/>
            <a:ext cx="64800" cy="64800"/>
          </a:xfrm>
          <a:prstGeom prst="ellipse">
            <a:avLst/>
          </a:prstGeom>
          <a:solidFill>
            <a:srgbClr val="E86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4000" y="6210000"/>
            <a:ext cx="5400000" cy="180000"/>
          </a:xfrm>
          <a:prstGeom prst="rect">
            <a:avLst/>
          </a:prstGeom>
          <a:noFill/>
        </p:spPr>
        <p:txBody>
          <a:bodyPr wrap="square" lIns="72000" rIns="72000" tIns="18000" bIns="18000">
            <a:spAutoFit/>
          </a:bodyPr>
          <a:lstStyle/>
          <a:p>
            <a:pPr algn="l"/>
            <a:r>
              <a:rPr sz="900" b="0" i="0">
                <a:solidFill>
                  <a:srgbClr val="9A8B7A"/>
                </a:solidFill>
              </a:rPr>
              <a:t>agent-meow · 010-client-overview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00000" y="6210000"/>
            <a:ext cx="1800000" cy="180000"/>
          </a:xfrm>
          <a:prstGeom prst="rect">
            <a:avLst/>
          </a:prstGeom>
          <a:noFill/>
        </p:spPr>
        <p:txBody>
          <a:bodyPr wrap="square" lIns="72000" rIns="72000" tIns="18000" bIns="18000">
            <a:spAutoFit/>
          </a:bodyPr>
          <a:lstStyle/>
          <a:p>
            <a:pPr algn="r"/>
            <a:r>
              <a:rPr sz="900" b="0" i="0">
                <a:solidFill>
                  <a:srgbClr val="9A8B7A"/>
                </a:solidFill>
              </a:rPr>
              <a:t>4 /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360000"/>
            <a:ext cx="11160000" cy="540000"/>
          </a:xfrm>
          <a:prstGeom prst="rect">
            <a:avLst/>
          </a:prstGeom>
          <a:noFill/>
        </p:spPr>
        <p:txBody>
          <a:bodyPr wrap="square" lIns="72000" rIns="72000" tIns="18000" bIns="18000">
            <a:spAutoFit/>
          </a:bodyPr>
          <a:lstStyle/>
          <a:p>
            <a:pPr algn="l"/>
            <a:r>
              <a:rPr sz="3000" b="1" i="0">
                <a:solidFill>
                  <a:srgbClr val="1A1410"/>
                </a:solidFill>
              </a:rPr>
              <a:t>方案概述：4 个阶段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72000"/>
            <a:ext cx="12192119" cy="43200"/>
          </a:xfrm>
          <a:prstGeom prst="rect">
            <a:avLst/>
          </a:prstGeom>
          <a:solidFill>
            <a:srgbClr val="E86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0000" y="1188000"/>
          <a:ext cx="11160000" cy="140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80000"/>
                <a:gridCol w="4140000"/>
                <a:gridCol w="4140000"/>
              </a:tblGrid>
              <a:tr h="280800">
                <a:tc>
                  <a:txBody>
                    <a:bodyPr lIns="36000" rIns="36000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</a:rPr>
                        <a:t>阶段</a:t>
                      </a:r>
                    </a:p>
                  </a:txBody>
                  <a:tcPr>
                    <a:solidFill>
                      <a:srgbClr val="E8651A"/>
                    </a:solidFill>
                  </a:tcPr>
                </a:tc>
                <a:tc>
                  <a:txBody>
                    <a:bodyPr lIns="36000" rIns="36000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</a:rPr>
                        <a:t>内容</a:t>
                      </a:r>
                    </a:p>
                  </a:txBody>
                  <a:tcPr>
                    <a:solidFill>
                      <a:srgbClr val="E8651A"/>
                    </a:solidFill>
                  </a:tcPr>
                </a:tc>
                <a:tc>
                  <a:txBody>
                    <a:bodyPr lIns="36000" rIns="36000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</a:rPr>
                        <a:t>说明</a:t>
                      </a:r>
                    </a:p>
                  </a:txBody>
                  <a:tcPr>
                    <a:solidFill>
                      <a:srgbClr val="E8651A"/>
                    </a:solidFill>
                  </a:tcPr>
                </a:tc>
              </a:tr>
              <a:tr h="280800">
                <a:tc>
                  <a:txBody>
                    <a:bodyPr lIns="36000" rIns="36000"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E8651A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A1410"/>
                          </a:solidFill>
                        </a:rPr>
                        <a:t>云端语音 + GPU 语音识别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A1410"/>
                          </a:solidFill>
                        </a:rPr>
                        <a:t>并行开发，互不依赖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0800">
                <a:tc>
                  <a:txBody>
                    <a:bodyPr lIns="36000" rIns="36000"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E8651A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F6E3"/>
                    </a:solidFill>
                  </a:tcPr>
                </a:tc>
                <a:tc>
                  <a:txBody>
                    <a:bodyPr lIns="36000" rIns="36000"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A1410"/>
                          </a:solidFill>
                        </a:rPr>
                        <a:t>用户界面集成 + 混合模式</a:t>
                      </a:r>
                    </a:p>
                  </a:txBody>
                  <a:tcPr>
                    <a:solidFill>
                      <a:srgbClr val="FFF6E3"/>
                    </a:solidFill>
                  </a:tcPr>
                </a:tc>
                <a:tc>
                  <a:txBody>
                    <a:bodyPr lIns="36000" rIns="36000"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A1410"/>
                          </a:solidFill>
                        </a:rPr>
                        <a:t>依赖阶段 1</a:t>
                      </a:r>
                    </a:p>
                  </a:txBody>
                  <a:tcPr>
                    <a:solidFill>
                      <a:srgbClr val="FFF6E3"/>
                    </a:solidFill>
                  </a:tcPr>
                </a:tc>
              </a:tr>
              <a:tr h="280800">
                <a:tc>
                  <a:txBody>
                    <a:bodyPr lIns="36000" rIns="36000"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E8651A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A1410"/>
                          </a:solidFill>
                        </a:rPr>
                        <a:t>AI 工具调用能力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A1410"/>
                          </a:solidFill>
                        </a:rPr>
                        <a:t>依赖阶段 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0800">
                <a:tc>
                  <a:txBody>
                    <a:bodyPr lIns="36000" rIns="36000"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E8651A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FF6E3"/>
                    </a:solidFill>
                  </a:tcPr>
                </a:tc>
                <a:tc>
                  <a:txBody>
                    <a:bodyPr lIns="36000" rIns="36000"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A1410"/>
                          </a:solidFill>
                        </a:rPr>
                        <a:t>本地大模型推理</a:t>
                      </a:r>
                    </a:p>
                  </a:txBody>
                  <a:tcPr>
                    <a:solidFill>
                      <a:srgbClr val="FFF6E3"/>
                    </a:solidFill>
                  </a:tcPr>
                </a:tc>
                <a:tc>
                  <a:txBody>
                    <a:bodyPr lIns="36000" rIns="36000"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A1410"/>
                          </a:solidFill>
                        </a:rPr>
                        <a:t>依赖阶段 3</a:t>
                      </a:r>
                    </a:p>
                  </a:txBody>
                  <a:tcPr>
                    <a:solidFill>
                      <a:srgbClr val="FFF6E3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0000" y="2736000"/>
            <a:ext cx="11160000" cy="432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1" i="0">
                <a:solidFill>
                  <a:srgbClr val="1A1410"/>
                </a:solidFill>
              </a:rPr>
              <a:t>总工作量</a:t>
            </a:r>
          </a:p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1A1410"/>
                </a:solidFill>
              </a:rPr>
              <a:t>：5 个计划 (006–010)，预计 2–4 周</a:t>
            </a:r>
          </a:p>
        </p:txBody>
      </p:sp>
      <p:sp>
        <p:nvSpPr>
          <p:cNvPr id="6" name="Oval 5"/>
          <p:cNvSpPr/>
          <p:nvPr/>
        </p:nvSpPr>
        <p:spPr>
          <a:xfrm>
            <a:off x="216000" y="6263999"/>
            <a:ext cx="64800" cy="64800"/>
          </a:xfrm>
          <a:prstGeom prst="ellipse">
            <a:avLst/>
          </a:prstGeom>
          <a:solidFill>
            <a:srgbClr val="E86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4000" y="6210000"/>
            <a:ext cx="5400000" cy="180000"/>
          </a:xfrm>
          <a:prstGeom prst="rect">
            <a:avLst/>
          </a:prstGeom>
          <a:noFill/>
        </p:spPr>
        <p:txBody>
          <a:bodyPr wrap="square" lIns="72000" rIns="72000" tIns="18000" bIns="18000">
            <a:spAutoFit/>
          </a:bodyPr>
          <a:lstStyle/>
          <a:p>
            <a:pPr algn="l"/>
            <a:r>
              <a:rPr sz="900" b="0" i="0">
                <a:solidFill>
                  <a:srgbClr val="9A8B7A"/>
                </a:solidFill>
              </a:rPr>
              <a:t>agent-meow · 010-client-overview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00000" y="6210000"/>
            <a:ext cx="1800000" cy="180000"/>
          </a:xfrm>
          <a:prstGeom prst="rect">
            <a:avLst/>
          </a:prstGeom>
          <a:noFill/>
        </p:spPr>
        <p:txBody>
          <a:bodyPr wrap="square" lIns="72000" rIns="72000" tIns="18000" bIns="18000">
            <a:spAutoFit/>
          </a:bodyPr>
          <a:lstStyle/>
          <a:p>
            <a:pPr algn="r"/>
            <a:r>
              <a:rPr sz="900" b="0" i="0">
                <a:solidFill>
                  <a:srgbClr val="9A8B7A"/>
                </a:solidFill>
              </a:rPr>
              <a:t>5 /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360000"/>
            <a:ext cx="11160000" cy="540000"/>
          </a:xfrm>
          <a:prstGeom prst="rect">
            <a:avLst/>
          </a:prstGeom>
          <a:noFill/>
        </p:spPr>
        <p:txBody>
          <a:bodyPr wrap="square" lIns="72000" rIns="72000" tIns="18000" bIns="18000">
            <a:spAutoFit/>
          </a:bodyPr>
          <a:lstStyle/>
          <a:p>
            <a:pPr algn="l"/>
            <a:r>
              <a:rPr sz="3000" b="1" i="0">
                <a:solidFill>
                  <a:srgbClr val="1A1410"/>
                </a:solidFill>
              </a:rPr>
              <a:t>阶段 1：云端语音 + GPU 加速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72000"/>
            <a:ext cx="12192119" cy="43200"/>
          </a:xfrm>
          <a:prstGeom prst="rect">
            <a:avLst/>
          </a:prstGeom>
          <a:solidFill>
            <a:srgbClr val="E86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0000" y="1188000"/>
            <a:ext cx="11160000" cy="432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1" i="0">
                <a:solidFill>
                  <a:srgbClr val="1A1410"/>
                </a:solidFill>
              </a:rPr>
              <a:t>计划 006</a:t>
            </a:r>
          </a:p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1A1410"/>
                </a:solidFill>
              </a:rPr>
              <a:t>：安装语音网关 + 阿里云 DashScope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8000" y="1584000"/>
            <a:ext cx="10980000" cy="4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>
                <a:solidFill>
                  <a:srgbClr val="E8651A"/>
                </a:solidFill>
              </a:rPr>
              <a:t>▸ </a:t>
            </a:r>
            <a:r>
              <a:rPr sz="1600" b="0" i="0">
                <a:solidFill>
                  <a:srgbClr val="1A1410"/>
                </a:solidFill>
              </a:rPr>
              <a:t>解决 90 秒冷启动 → </a:t>
            </a:r>
            <a:r>
              <a:rPr sz="1600" b="1" i="0">
                <a:solidFill>
                  <a:srgbClr val="1A1410"/>
                </a:solidFill>
              </a:rPr>
              <a:t>即时响应</a:t>
            </a:r>
            <a:r>
              <a:rPr sz="1600" b="0" i="0">
                <a:solidFill>
                  <a:srgbClr val="1A1410"/>
                </a:solidFill>
              </a:rPr>
              <a:t>（云端常驻）</a:t>
            </a:r>
          </a:p>
          <a:p>
            <a:pPr algn="l">
              <a:lnSpc>
                <a:spcPct val="125000"/>
              </a:lnSpc>
            </a:pPr>
            <a:r>
              <a:rPr sz="1600" b="1">
                <a:solidFill>
                  <a:srgbClr val="E8651A"/>
                </a:solidFill>
              </a:rPr>
              <a:t>▸ </a:t>
            </a:r>
            <a:r>
              <a:rPr sz="1600" b="0" i="0">
                <a:solidFill>
                  <a:srgbClr val="1A1410"/>
                </a:solidFill>
              </a:rPr>
              <a:t>中文语音质量优秀，中国可直连</a:t>
            </a:r>
          </a:p>
          <a:p>
            <a:pPr algn="l">
              <a:lnSpc>
                <a:spcPct val="125000"/>
              </a:lnSpc>
            </a:pPr>
            <a:r>
              <a:rPr sz="1600" b="1">
                <a:solidFill>
                  <a:srgbClr val="E8651A"/>
                </a:solidFill>
              </a:rPr>
              <a:t>▸ </a:t>
            </a:r>
            <a:r>
              <a:rPr sz="1600" b="0" i="0">
                <a:solidFill>
                  <a:srgbClr val="1A1410"/>
                </a:solidFill>
              </a:rPr>
              <a:t>90 天免费试用，之后 ~¥0.20/分钟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0000" y="2412000"/>
            <a:ext cx="11160000" cy="432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1" i="0">
                <a:solidFill>
                  <a:srgbClr val="1A1410"/>
                </a:solidFill>
              </a:rPr>
              <a:t>计划 008</a:t>
            </a:r>
          </a:p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1A1410"/>
                </a:solidFill>
              </a:rPr>
              <a:t>：GPU 语音识别加速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8000" y="2808000"/>
            <a:ext cx="10980000" cy="4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>
                <a:solidFill>
                  <a:srgbClr val="E8651A"/>
                </a:solidFill>
              </a:rPr>
              <a:t>▸ </a:t>
            </a:r>
            <a:r>
              <a:rPr sz="1600" b="0" i="0">
                <a:solidFill>
                  <a:srgbClr val="1A1410"/>
                </a:solidFill>
              </a:rPr>
              <a:t>灵创K16：用 Vulkan 技术将语音识别放到 GPU（60s → ~3s）</a:t>
            </a:r>
          </a:p>
          <a:p>
            <a:pPr algn="l">
              <a:lnSpc>
                <a:spcPct val="125000"/>
              </a:lnSpc>
            </a:pPr>
            <a:r>
              <a:rPr sz="1600" b="1">
                <a:solidFill>
                  <a:srgbClr val="E8651A"/>
                </a:solidFill>
              </a:rPr>
              <a:t>▸ </a:t>
            </a:r>
            <a:r>
              <a:rPr sz="1600" b="0" i="0">
                <a:solidFill>
                  <a:srgbClr val="1A1410"/>
                </a:solidFill>
              </a:rPr>
              <a:t>橘宝R16：RTX 5060 原生支持 CUDA，</a:t>
            </a:r>
            <a:r>
              <a:rPr sz="1600" b="1" i="0">
                <a:solidFill>
                  <a:srgbClr val="1A1410"/>
                </a:solidFill>
              </a:rPr>
              <a:t>直接安装即可</a:t>
            </a:r>
            <a:r>
              <a:rPr sz="1600" b="0" i="0">
                <a:solidFill>
                  <a:srgbClr val="1A1410"/>
                </a:solidFill>
              </a:rPr>
              <a:t>（60s → ~1s）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0000" y="3384000"/>
            <a:ext cx="11160000" cy="432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1" i="0">
                <a:solidFill>
                  <a:srgbClr val="1A1410"/>
                </a:solidFill>
              </a:rPr>
              <a:t>结果</a:t>
            </a:r>
          </a:p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1A1410"/>
                </a:solidFill>
              </a:rPr>
              <a:t>：在线模式即时响应，离线模式 3–8 秒启动</a:t>
            </a:r>
          </a:p>
        </p:txBody>
      </p:sp>
      <p:sp>
        <p:nvSpPr>
          <p:cNvPr id="9" name="Oval 8"/>
          <p:cNvSpPr/>
          <p:nvPr/>
        </p:nvSpPr>
        <p:spPr>
          <a:xfrm>
            <a:off x="216000" y="6263999"/>
            <a:ext cx="64800" cy="64800"/>
          </a:xfrm>
          <a:prstGeom prst="ellipse">
            <a:avLst/>
          </a:prstGeom>
          <a:solidFill>
            <a:srgbClr val="E86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4000" y="6210000"/>
            <a:ext cx="5400000" cy="180000"/>
          </a:xfrm>
          <a:prstGeom prst="rect">
            <a:avLst/>
          </a:prstGeom>
          <a:noFill/>
        </p:spPr>
        <p:txBody>
          <a:bodyPr wrap="square" lIns="72000" rIns="72000" tIns="18000" bIns="18000">
            <a:spAutoFit/>
          </a:bodyPr>
          <a:lstStyle/>
          <a:p>
            <a:pPr algn="l"/>
            <a:r>
              <a:rPr sz="900" b="0" i="0">
                <a:solidFill>
                  <a:srgbClr val="9A8B7A"/>
                </a:solidFill>
              </a:rPr>
              <a:t>agent-meow · 010-client-overview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00000" y="6210000"/>
            <a:ext cx="1800000" cy="180000"/>
          </a:xfrm>
          <a:prstGeom prst="rect">
            <a:avLst/>
          </a:prstGeom>
          <a:noFill/>
        </p:spPr>
        <p:txBody>
          <a:bodyPr wrap="square" lIns="72000" rIns="72000" tIns="18000" bIns="18000">
            <a:spAutoFit/>
          </a:bodyPr>
          <a:lstStyle/>
          <a:p>
            <a:pPr algn="r"/>
            <a:r>
              <a:rPr sz="900" b="0" i="0">
                <a:solidFill>
                  <a:srgbClr val="9A8B7A"/>
                </a:solidFill>
              </a:rPr>
              <a:t>6 /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360000"/>
            <a:ext cx="11160000" cy="540000"/>
          </a:xfrm>
          <a:prstGeom prst="rect">
            <a:avLst/>
          </a:prstGeom>
          <a:noFill/>
        </p:spPr>
        <p:txBody>
          <a:bodyPr wrap="square" lIns="72000" rIns="72000" tIns="18000" bIns="18000">
            <a:spAutoFit/>
          </a:bodyPr>
          <a:lstStyle/>
          <a:p>
            <a:pPr algn="l"/>
            <a:r>
              <a:rPr sz="3000" b="1" i="0">
                <a:solidFill>
                  <a:srgbClr val="1A1410"/>
                </a:solidFill>
              </a:rPr>
              <a:t>阶段 2：用户界面 + 混合模式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72000"/>
            <a:ext cx="12192119" cy="43200"/>
          </a:xfrm>
          <a:prstGeom prst="rect">
            <a:avLst/>
          </a:prstGeom>
          <a:solidFill>
            <a:srgbClr val="E86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0000" y="1188000"/>
            <a:ext cx="11160000" cy="432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1" i="0">
                <a:solidFill>
                  <a:srgbClr val="1A1410"/>
                </a:solidFill>
              </a:rPr>
              <a:t>计划 006b</a:t>
            </a:r>
          </a:p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1A1410"/>
                </a:solidFill>
              </a:rPr>
              <a:t>：在线/离线自动切换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8000" y="1584000"/>
            <a:ext cx="10980000" cy="4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>
                <a:solidFill>
                  <a:srgbClr val="E8651A"/>
                </a:solidFill>
              </a:rPr>
              <a:t>▸ </a:t>
            </a:r>
            <a:r>
              <a:rPr sz="1600" b="0" i="0">
                <a:solidFill>
                  <a:srgbClr val="1A1410"/>
                </a:solidFill>
              </a:rPr>
              <a:t>云端不可用时自动切离线，用户无感知</a:t>
            </a:r>
          </a:p>
          <a:p>
            <a:pPr algn="l">
              <a:lnSpc>
                <a:spcPct val="125000"/>
              </a:lnSpc>
            </a:pPr>
            <a:r>
              <a:rPr sz="1600" b="1">
                <a:solidFill>
                  <a:srgbClr val="E8651A"/>
                </a:solidFill>
              </a:rPr>
              <a:t>▸ </a:t>
            </a:r>
            <a:r>
              <a:rPr sz="1600" b="0" i="0">
                <a:solidFill>
                  <a:srgbClr val="1A1410"/>
                </a:solidFill>
              </a:rPr>
              <a:t>解决中国网络环境下的可用性问题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0000" y="2160000"/>
            <a:ext cx="11160000" cy="432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1" i="0">
                <a:solidFill>
                  <a:srgbClr val="1A1410"/>
                </a:solidFill>
              </a:rPr>
              <a:t>计划 007</a:t>
            </a:r>
          </a:p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1A1410"/>
                </a:solidFill>
              </a:rPr>
              <a:t>：保留猫爪 UI，替换底层引擎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8000" y="2556000"/>
            <a:ext cx="10980000" cy="4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>
                <a:solidFill>
                  <a:srgbClr val="E8651A"/>
                </a:solidFill>
              </a:rPr>
              <a:t>▸ </a:t>
            </a:r>
            <a:r>
              <a:rPr sz="1600" b="0" i="0">
                <a:solidFill>
                  <a:srgbClr val="1A1410"/>
                </a:solidFill>
              </a:rPr>
              <a:t>用户看到的界面不变（猫爪按钮 + 波形动画）</a:t>
            </a:r>
          </a:p>
          <a:p>
            <a:pPr algn="l">
              <a:lnSpc>
                <a:spcPct val="125000"/>
              </a:lnSpc>
            </a:pPr>
            <a:r>
              <a:rPr sz="1600" b="1">
                <a:solidFill>
                  <a:srgbClr val="E8651A"/>
                </a:solidFill>
              </a:rPr>
              <a:t>▸ </a:t>
            </a:r>
            <a:r>
              <a:rPr sz="1600" b="0" i="0">
                <a:solidFill>
                  <a:srgbClr val="1A1410"/>
                </a:solidFill>
              </a:rPr>
              <a:t>内部传输层升级为更成熟的 QAA 协议</a:t>
            </a:r>
          </a:p>
          <a:p>
            <a:pPr algn="l">
              <a:lnSpc>
                <a:spcPct val="125000"/>
              </a:lnSpc>
            </a:pPr>
            <a:r>
              <a:rPr sz="1600" b="1">
                <a:solidFill>
                  <a:srgbClr val="E8651A"/>
                </a:solidFill>
              </a:rPr>
              <a:t>▸ </a:t>
            </a:r>
            <a:r>
              <a:rPr sz="1600" b="0" i="0">
                <a:solidFill>
                  <a:srgbClr val="1A1410"/>
                </a:solidFill>
              </a:rPr>
              <a:t>新增在线/离线切换按钮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0000" y="3383999"/>
            <a:ext cx="11160000" cy="432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1" i="0">
                <a:solidFill>
                  <a:srgbClr val="1A1410"/>
                </a:solidFill>
              </a:rPr>
              <a:t>结果</a:t>
            </a:r>
          </a:p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1A1410"/>
                </a:solidFill>
              </a:rPr>
              <a:t>：用户体验一致，底层更稳定</a:t>
            </a:r>
          </a:p>
        </p:txBody>
      </p:sp>
      <p:sp>
        <p:nvSpPr>
          <p:cNvPr id="9" name="Oval 8"/>
          <p:cNvSpPr/>
          <p:nvPr/>
        </p:nvSpPr>
        <p:spPr>
          <a:xfrm>
            <a:off x="216000" y="6263999"/>
            <a:ext cx="64800" cy="64800"/>
          </a:xfrm>
          <a:prstGeom prst="ellipse">
            <a:avLst/>
          </a:prstGeom>
          <a:solidFill>
            <a:srgbClr val="E86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4000" y="6210000"/>
            <a:ext cx="5400000" cy="180000"/>
          </a:xfrm>
          <a:prstGeom prst="rect">
            <a:avLst/>
          </a:prstGeom>
          <a:noFill/>
        </p:spPr>
        <p:txBody>
          <a:bodyPr wrap="square" lIns="72000" rIns="72000" tIns="18000" bIns="18000">
            <a:spAutoFit/>
          </a:bodyPr>
          <a:lstStyle/>
          <a:p>
            <a:pPr algn="l"/>
            <a:r>
              <a:rPr sz="900" b="0" i="0">
                <a:solidFill>
                  <a:srgbClr val="9A8B7A"/>
                </a:solidFill>
              </a:rPr>
              <a:t>agent-meow · 010-client-overview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00000" y="6210000"/>
            <a:ext cx="1800000" cy="180000"/>
          </a:xfrm>
          <a:prstGeom prst="rect">
            <a:avLst/>
          </a:prstGeom>
          <a:noFill/>
        </p:spPr>
        <p:txBody>
          <a:bodyPr wrap="square" lIns="72000" rIns="72000" tIns="18000" bIns="18000">
            <a:spAutoFit/>
          </a:bodyPr>
          <a:lstStyle/>
          <a:p>
            <a:pPr algn="r"/>
            <a:r>
              <a:rPr sz="900" b="0" i="0">
                <a:solidFill>
                  <a:srgbClr val="9A8B7A"/>
                </a:solidFill>
              </a:rPr>
              <a:t>7 /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360000"/>
            <a:ext cx="11160000" cy="540000"/>
          </a:xfrm>
          <a:prstGeom prst="rect">
            <a:avLst/>
          </a:prstGeom>
          <a:noFill/>
        </p:spPr>
        <p:txBody>
          <a:bodyPr wrap="square" lIns="72000" rIns="72000" tIns="18000" bIns="18000">
            <a:spAutoFit/>
          </a:bodyPr>
          <a:lstStyle/>
          <a:p>
            <a:pPr algn="l"/>
            <a:r>
              <a:rPr sz="3000" b="1" i="0">
                <a:solidFill>
                  <a:srgbClr val="1A1410"/>
                </a:solidFill>
              </a:rPr>
              <a:t>阶段 3+4：AI 工具调用 + 本地大模型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72000"/>
            <a:ext cx="12192119" cy="43200"/>
          </a:xfrm>
          <a:prstGeom prst="rect">
            <a:avLst/>
          </a:prstGeom>
          <a:solidFill>
            <a:srgbClr val="E86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0000" y="1188000"/>
            <a:ext cx="11160000" cy="432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1" i="0">
                <a:solidFill>
                  <a:srgbClr val="1A1410"/>
                </a:solidFill>
              </a:rPr>
              <a:t>计划 009</a:t>
            </a:r>
          </a:p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1A1410"/>
                </a:solidFill>
              </a:rPr>
              <a:t>：AI 语音 → 工具调用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8000" y="1584000"/>
            <a:ext cx="10980000" cy="4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>
                <a:solidFill>
                  <a:srgbClr val="E8651A"/>
                </a:solidFill>
              </a:rPr>
              <a:t>▸ </a:t>
            </a:r>
            <a:r>
              <a:rPr sz="1600" b="0" i="0">
                <a:solidFill>
                  <a:srgbClr val="1A1410"/>
                </a:solidFill>
              </a:rPr>
              <a:t>用户说话 → 简单问题即时回答</a:t>
            </a:r>
          </a:p>
          <a:p>
            <a:pPr algn="l">
              <a:lnSpc>
                <a:spcPct val="125000"/>
              </a:lnSpc>
            </a:pPr>
            <a:r>
              <a:rPr sz="1600" b="1">
                <a:solidFill>
                  <a:srgbClr val="E8651A"/>
                </a:solidFill>
              </a:rPr>
              <a:t>▸ </a:t>
            </a:r>
            <a:r>
              <a:rPr sz="1600" b="0" i="0">
                <a:solidFill>
                  <a:srgbClr val="1A1410"/>
                </a:solidFill>
              </a:rPr>
              <a:t>需要工具时（代码/文件/搜索）→ 后台执行 → 语音播报结果</a:t>
            </a:r>
          </a:p>
          <a:p>
            <a:pPr algn="l">
              <a:lnSpc>
                <a:spcPct val="125000"/>
              </a:lnSpc>
            </a:pPr>
            <a:r>
              <a:rPr sz="1600" b="1">
                <a:solidFill>
                  <a:srgbClr val="E8651A"/>
                </a:solidFill>
              </a:rPr>
              <a:t>▸ </a:t>
            </a:r>
            <a:r>
              <a:rPr sz="1600" b="0" i="0">
                <a:solidFill>
                  <a:srgbClr val="1A1410"/>
                </a:solidFill>
              </a:rPr>
              <a:t>AI 语音成为工作入口，不仅仅是聊天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0000" y="2412000"/>
            <a:ext cx="11160000" cy="432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1" i="0">
                <a:solidFill>
                  <a:srgbClr val="1A1410"/>
                </a:solidFill>
              </a:rPr>
              <a:t>计划 010</a:t>
            </a:r>
          </a:p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1A1410"/>
                </a:solidFill>
              </a:rPr>
              <a:t>：本地大模型推理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8000" y="2808000"/>
            <a:ext cx="10980000" cy="4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>
                <a:solidFill>
                  <a:srgbClr val="E8651A"/>
                </a:solidFill>
              </a:rPr>
              <a:t>▸ </a:t>
            </a:r>
            <a:r>
              <a:rPr sz="1600" b="0" i="0">
                <a:solidFill>
                  <a:srgbClr val="1A1410"/>
                </a:solidFill>
              </a:rPr>
              <a:t>灵创K16：35B 大模型完全驻留 96GB 显存（最高质量）</a:t>
            </a:r>
          </a:p>
          <a:p>
            <a:pPr algn="l">
              <a:lnSpc>
                <a:spcPct val="125000"/>
              </a:lnSpc>
            </a:pPr>
            <a:r>
              <a:rPr sz="1600" b="1">
                <a:solidFill>
                  <a:srgbClr val="E8651A"/>
                </a:solidFill>
              </a:rPr>
              <a:t>▸ </a:t>
            </a:r>
            <a:r>
              <a:rPr sz="1600" b="0" i="0">
                <a:solidFill>
                  <a:srgbClr val="1A1410"/>
                </a:solidFill>
              </a:rPr>
              <a:t>橘宝R16：同一 35B 模型，智能分配到 RTX 5060 + 系统内存</a:t>
            </a:r>
          </a:p>
          <a:p>
            <a:pPr algn="l">
              <a:lnSpc>
                <a:spcPct val="125000"/>
              </a:lnSpc>
            </a:pPr>
            <a:r>
              <a:rPr sz="1600" b="1">
                <a:solidFill>
                  <a:srgbClr val="E8651A"/>
                </a:solidFill>
              </a:rPr>
              <a:t>▸ </a:t>
            </a:r>
            <a:r>
              <a:rPr sz="1600" b="1" i="0">
                <a:solidFill>
                  <a:srgbClr val="1A1410"/>
                </a:solidFill>
              </a:rPr>
              <a:t>零 API 费用</a:t>
            </a:r>
            <a:r>
              <a:rPr sz="1600" b="0" i="0">
                <a:solidFill>
                  <a:srgbClr val="1A1410"/>
                </a:solidFill>
              </a:rPr>
              <a:t>，完全本地运行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0000" y="3636000"/>
            <a:ext cx="11160000" cy="432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1" i="0">
                <a:solidFill>
                  <a:srgbClr val="1A1410"/>
                </a:solidFill>
              </a:rPr>
              <a:t>结果</a:t>
            </a:r>
          </a:p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1A1410"/>
                </a:solidFill>
              </a:rPr>
              <a:t>：语音驱动的 AI 代理，可执行任务，零云端成本</a:t>
            </a:r>
          </a:p>
        </p:txBody>
      </p:sp>
      <p:sp>
        <p:nvSpPr>
          <p:cNvPr id="9" name="Oval 8"/>
          <p:cNvSpPr/>
          <p:nvPr/>
        </p:nvSpPr>
        <p:spPr>
          <a:xfrm>
            <a:off x="216000" y="6263999"/>
            <a:ext cx="64800" cy="64800"/>
          </a:xfrm>
          <a:prstGeom prst="ellipse">
            <a:avLst/>
          </a:prstGeom>
          <a:solidFill>
            <a:srgbClr val="E86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4000" y="6210000"/>
            <a:ext cx="5400000" cy="180000"/>
          </a:xfrm>
          <a:prstGeom prst="rect">
            <a:avLst/>
          </a:prstGeom>
          <a:noFill/>
        </p:spPr>
        <p:txBody>
          <a:bodyPr wrap="square" lIns="72000" rIns="72000" tIns="18000" bIns="18000">
            <a:spAutoFit/>
          </a:bodyPr>
          <a:lstStyle/>
          <a:p>
            <a:pPr algn="l"/>
            <a:r>
              <a:rPr sz="900" b="0" i="0">
                <a:solidFill>
                  <a:srgbClr val="9A8B7A"/>
                </a:solidFill>
              </a:rPr>
              <a:t>agent-meow · 010-client-overview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00000" y="6210000"/>
            <a:ext cx="1800000" cy="180000"/>
          </a:xfrm>
          <a:prstGeom prst="rect">
            <a:avLst/>
          </a:prstGeom>
          <a:noFill/>
        </p:spPr>
        <p:txBody>
          <a:bodyPr wrap="square" lIns="72000" rIns="72000" tIns="18000" bIns="18000">
            <a:spAutoFit/>
          </a:bodyPr>
          <a:lstStyle/>
          <a:p>
            <a:pPr algn="r"/>
            <a:r>
              <a:rPr sz="900" b="0" i="0">
                <a:solidFill>
                  <a:srgbClr val="9A8B7A"/>
                </a:solidFill>
              </a:rPr>
              <a:t>8 /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360000"/>
            <a:ext cx="11160000" cy="540000"/>
          </a:xfrm>
          <a:prstGeom prst="rect">
            <a:avLst/>
          </a:prstGeom>
          <a:noFill/>
        </p:spPr>
        <p:txBody>
          <a:bodyPr wrap="square" lIns="72000" rIns="72000" tIns="18000" bIns="18000">
            <a:spAutoFit/>
          </a:bodyPr>
          <a:lstStyle/>
          <a:p>
            <a:pPr algn="l"/>
            <a:r>
              <a:rPr sz="3000" b="1" i="0">
                <a:solidFill>
                  <a:srgbClr val="1A1410"/>
                </a:solidFill>
              </a:rPr>
              <a:t>两台设备最终效果对比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72000"/>
            <a:ext cx="12192119" cy="43200"/>
          </a:xfrm>
          <a:prstGeom prst="rect">
            <a:avLst/>
          </a:prstGeom>
          <a:solidFill>
            <a:srgbClr val="E86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0000" y="1188000"/>
          <a:ext cx="11160000" cy="1655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80000"/>
                <a:gridCol w="4140000"/>
                <a:gridCol w="4140000"/>
              </a:tblGrid>
              <a:tr h="275999">
                <a:tc>
                  <a:txBody>
                    <a:bodyPr lIns="36000" rIns="36000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</a:rPr>
                        <a:t>指标</a:t>
                      </a:r>
                    </a:p>
                  </a:txBody>
                  <a:tcPr>
                    <a:solidFill>
                      <a:srgbClr val="E8651A"/>
                    </a:solidFill>
                  </a:tcPr>
                </a:tc>
                <a:tc>
                  <a:txBody>
                    <a:bodyPr lIns="36000" rIns="36000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</a:rPr>
                        <a:t>灵创K16</a:t>
                      </a:r>
                    </a:p>
                  </a:txBody>
                  <a:tcPr>
                    <a:solidFill>
                      <a:srgbClr val="E8651A"/>
                    </a:solidFill>
                  </a:tcPr>
                </a:tc>
                <a:tc>
                  <a:txBody>
                    <a:bodyPr lIns="36000" rIns="36000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</a:rPr>
                        <a:t>橘宝R16</a:t>
                      </a:r>
                    </a:p>
                  </a:txBody>
                  <a:tcPr>
                    <a:solidFill>
                      <a:srgbClr val="E8651A"/>
                    </a:solidFill>
                  </a:tcPr>
                </a:tc>
              </a:tr>
              <a:tr h="275999">
                <a:tc>
                  <a:txBody>
                    <a:bodyPr lIns="36000" rIns="36000"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A1410"/>
                          </a:solidFill>
                        </a:rPr>
                        <a:t>语音启动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E8651A"/>
                          </a:solidFill>
                        </a:rPr>
                        <a:t>即时</a:t>
                      </a:r>
                    </a:p>
                    <a:p>
                      <a:pPr algn="l"/>
                      <a:r>
                        <a:rPr sz="1200" b="0" i="0">
                          <a:solidFill>
                            <a:srgbClr val="1A1410"/>
                          </a:solidFill>
                        </a:rPr>
                        <a:t>（在线）/ ~8s（离线）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E8651A"/>
                          </a:solidFill>
                        </a:rPr>
                        <a:t>即时</a:t>
                      </a:r>
                    </a:p>
                    <a:p>
                      <a:pPr algn="l"/>
                      <a:r>
                        <a:rPr sz="1200" b="0" i="0">
                          <a:solidFill>
                            <a:srgbClr val="1A1410"/>
                          </a:solidFill>
                        </a:rPr>
                        <a:t>（在线）/ ~3s（离线）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5999">
                <a:tc>
                  <a:txBody>
                    <a:bodyPr lIns="36000" rIns="36000"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A1410"/>
                          </a:solidFill>
                        </a:rPr>
                        <a:t>语音识别</a:t>
                      </a:r>
                    </a:p>
                  </a:txBody>
                  <a:tcPr>
                    <a:solidFill>
                      <a:srgbClr val="FFF6E3"/>
                    </a:solidFill>
                  </a:tcPr>
                </a:tc>
                <a:tc>
                  <a:txBody>
                    <a:bodyPr lIns="36000" rIns="36000"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A1410"/>
                          </a:solidFill>
                        </a:rPr>
                        <a:t>GPU ~3s (Vulkan)</a:t>
                      </a:r>
                    </a:p>
                  </a:txBody>
                  <a:tcPr>
                    <a:solidFill>
                      <a:srgbClr val="FFF6E3"/>
                    </a:solidFill>
                  </a:tcPr>
                </a:tc>
                <a:tc>
                  <a:txBody>
                    <a:bodyPr lIns="36000" rIns="36000"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E8651A"/>
                          </a:solidFill>
                        </a:rPr>
                        <a:t>GPU ~1s</a:t>
                      </a:r>
                    </a:p>
                    <a:p>
                      <a:pPr algn="l"/>
                      <a:r>
                        <a:rPr sz="1200" b="0" i="0">
                          <a:solidFill>
                            <a:srgbClr val="1A1410"/>
                          </a:solidFill>
                        </a:rPr>
                        <a:t> (CUDA)</a:t>
                      </a:r>
                    </a:p>
                  </a:txBody>
                  <a:tcPr>
                    <a:solidFill>
                      <a:srgbClr val="FFF6E3"/>
                    </a:solidFill>
                  </a:tcPr>
                </a:tc>
              </a:tr>
              <a:tr h="275999">
                <a:tc>
                  <a:txBody>
                    <a:bodyPr lIns="36000" rIns="36000"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A1410"/>
                          </a:solidFill>
                        </a:rPr>
                        <a:t>AI 模型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A1410"/>
                          </a:solidFill>
                        </a:rPr>
                        <a:t>35B 大模型（最高质量）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A1410"/>
                          </a:solidFill>
                        </a:rPr>
                        <a:t>同 35B 模型（稍压缩）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5999">
                <a:tc>
                  <a:txBody>
                    <a:bodyPr lIns="36000" rIns="36000"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A1410"/>
                          </a:solidFill>
                        </a:rPr>
                        <a:t>离线运行</a:t>
                      </a:r>
                    </a:p>
                  </a:txBody>
                  <a:tcPr>
                    <a:solidFill>
                      <a:srgbClr val="FFF6E3"/>
                    </a:solidFill>
                  </a:tcPr>
                </a:tc>
                <a:tc>
                  <a:txBody>
                    <a:bodyPr lIns="36000" rIns="36000"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A1410"/>
                          </a:solidFill>
                        </a:rPr>
                        <a:t>✅ 零云端</a:t>
                      </a:r>
                    </a:p>
                  </a:txBody>
                  <a:tcPr>
                    <a:solidFill>
                      <a:srgbClr val="FFF6E3"/>
                    </a:solidFill>
                  </a:tcPr>
                </a:tc>
                <a:tc>
                  <a:txBody>
                    <a:bodyPr lIns="36000" rIns="36000"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A1410"/>
                          </a:solidFill>
                        </a:rPr>
                        <a:t>✅ 零云端</a:t>
                      </a:r>
                    </a:p>
                  </a:txBody>
                  <a:tcPr>
                    <a:solidFill>
                      <a:srgbClr val="FFF6E3"/>
                    </a:solidFill>
                  </a:tcPr>
                </a:tc>
              </a:tr>
              <a:tr h="276004">
                <a:tc>
                  <a:txBody>
                    <a:bodyPr lIns="36000" rIns="36000"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A1410"/>
                          </a:solidFill>
                        </a:rPr>
                        <a:t>实现难度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A1410"/>
                          </a:solidFill>
                        </a:rPr>
                        <a:t>中等（需编译）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E8651A"/>
                          </a:solidFill>
                        </a:rPr>
                        <a:t>简单</a:t>
                      </a:r>
                    </a:p>
                    <a:p>
                      <a:pPr algn="l"/>
                      <a:r>
                        <a:rPr sz="1200" b="0" i="0">
                          <a:solidFill>
                            <a:srgbClr val="1A1410"/>
                          </a:solidFill>
                        </a:rPr>
                        <a:t>（直接安装）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0000" y="2988000"/>
            <a:ext cx="11160000" cy="432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1" i="0">
                <a:solidFill>
                  <a:srgbClr val="1A1410"/>
                </a:solidFill>
              </a:rPr>
              <a:t>总结</a:t>
            </a:r>
          </a:p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1A1410"/>
                </a:solidFill>
              </a:rPr>
              <a:t>：灵创K16 以大显存追求最高质量；橘宝R16 以 CUDA 追求最快速度和最简部署</a:t>
            </a:r>
          </a:p>
        </p:txBody>
      </p:sp>
      <p:sp>
        <p:nvSpPr>
          <p:cNvPr id="6" name="Oval 5"/>
          <p:cNvSpPr/>
          <p:nvPr/>
        </p:nvSpPr>
        <p:spPr>
          <a:xfrm>
            <a:off x="216000" y="6263999"/>
            <a:ext cx="64800" cy="64800"/>
          </a:xfrm>
          <a:prstGeom prst="ellipse">
            <a:avLst/>
          </a:prstGeom>
          <a:solidFill>
            <a:srgbClr val="E86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4000" y="6210000"/>
            <a:ext cx="5400000" cy="180000"/>
          </a:xfrm>
          <a:prstGeom prst="rect">
            <a:avLst/>
          </a:prstGeom>
          <a:noFill/>
        </p:spPr>
        <p:txBody>
          <a:bodyPr wrap="square" lIns="72000" rIns="72000" tIns="18000" bIns="18000">
            <a:spAutoFit/>
          </a:bodyPr>
          <a:lstStyle/>
          <a:p>
            <a:pPr algn="l"/>
            <a:r>
              <a:rPr sz="900" b="0" i="0">
                <a:solidFill>
                  <a:srgbClr val="9A8B7A"/>
                </a:solidFill>
              </a:rPr>
              <a:t>agent-meow · 010-client-overview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00000" y="6210000"/>
            <a:ext cx="1800000" cy="180000"/>
          </a:xfrm>
          <a:prstGeom prst="rect">
            <a:avLst/>
          </a:prstGeom>
          <a:noFill/>
        </p:spPr>
        <p:txBody>
          <a:bodyPr wrap="square" lIns="72000" rIns="72000" tIns="18000" bIns="18000">
            <a:spAutoFit/>
          </a:bodyPr>
          <a:lstStyle/>
          <a:p>
            <a:pPr algn="r"/>
            <a:r>
              <a:rPr sz="900" b="0" i="0">
                <a:solidFill>
                  <a:srgbClr val="9A8B7A"/>
                </a:solidFill>
              </a:rPr>
              <a:t>9 /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360000"/>
            <a:ext cx="11160000" cy="540000"/>
          </a:xfrm>
          <a:prstGeom prst="rect">
            <a:avLst/>
          </a:prstGeom>
          <a:noFill/>
        </p:spPr>
        <p:txBody>
          <a:bodyPr wrap="square" lIns="72000" rIns="72000" tIns="18000" bIns="18000">
            <a:spAutoFit/>
          </a:bodyPr>
          <a:lstStyle/>
          <a:p>
            <a:pPr algn="l"/>
            <a:r>
              <a:rPr sz="3000" b="1" i="0">
                <a:solidFill>
                  <a:srgbClr val="1A1410"/>
                </a:solidFill>
              </a:rPr>
              <a:t>成本与风险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72000"/>
            <a:ext cx="12192119" cy="43200"/>
          </a:xfrm>
          <a:prstGeom prst="rect">
            <a:avLst/>
          </a:prstGeom>
          <a:solidFill>
            <a:srgbClr val="E86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0000" y="1188000"/>
            <a:ext cx="11160000" cy="432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1" i="0">
                <a:solidFill>
                  <a:srgbClr val="1A1410"/>
                </a:solidFill>
              </a:rPr>
              <a:t>开发成本</a:t>
            </a:r>
          </a:p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1A1410"/>
                </a:solidFill>
              </a:rPr>
              <a:t>：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0000" y="1584000"/>
          <a:ext cx="11160000" cy="115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80000"/>
                <a:gridCol w="4140000"/>
                <a:gridCol w="4140000"/>
              </a:tblGrid>
              <a:tr h="288000">
                <a:tc>
                  <a:txBody>
                    <a:bodyPr lIns="36000" rIns="36000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</a:rPr>
                        <a:t>项目</a:t>
                      </a:r>
                    </a:p>
                  </a:txBody>
                  <a:tcPr>
                    <a:solidFill>
                      <a:srgbClr val="E8651A"/>
                    </a:solidFill>
                  </a:tcPr>
                </a:tc>
                <a:tc>
                  <a:txBody>
                    <a:bodyPr lIns="36000" rIns="36000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</a:rPr>
                        <a:t>灵创K16</a:t>
                      </a:r>
                    </a:p>
                  </a:txBody>
                  <a:tcPr>
                    <a:solidFill>
                      <a:srgbClr val="E8651A"/>
                    </a:solidFill>
                  </a:tcPr>
                </a:tc>
                <a:tc>
                  <a:txBody>
                    <a:bodyPr lIns="36000" rIns="36000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</a:rPr>
                        <a:t>橘宝R16</a:t>
                      </a:r>
                    </a:p>
                  </a:txBody>
                  <a:tcPr>
                    <a:solidFill>
                      <a:srgbClr val="E8651A"/>
                    </a:solidFill>
                  </a:tcPr>
                </a:tc>
              </a:tr>
              <a:tr h="288000">
                <a:tc>
                  <a:txBody>
                    <a:bodyPr lIns="36000" rIns="36000"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A1410"/>
                          </a:solidFill>
                        </a:rPr>
                        <a:t>云端语音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A1410"/>
                          </a:solidFill>
                        </a:rPr>
                        <a:t>90天免费，后 ~¥0.20/分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A1410"/>
                          </a:solidFill>
                        </a:rPr>
                        <a:t>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 lIns="36000" rIns="36000"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A1410"/>
                          </a:solidFill>
                        </a:rPr>
                        <a:t>离线运行</a:t>
                      </a:r>
                    </a:p>
                  </a:txBody>
                  <a:tcPr>
                    <a:solidFill>
                      <a:srgbClr val="FFF6E3"/>
                    </a:solidFill>
                  </a:tcPr>
                </a:tc>
                <a:tc>
                  <a:txBody>
                    <a:bodyPr lIns="36000" rIns="36000"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E8651A"/>
                          </a:solidFill>
                        </a:rPr>
                        <a:t>零成本</a:t>
                      </a:r>
                    </a:p>
                  </a:txBody>
                  <a:tcPr>
                    <a:solidFill>
                      <a:srgbClr val="FFF6E3"/>
                    </a:solidFill>
                  </a:tcPr>
                </a:tc>
                <a:tc>
                  <a:txBody>
                    <a:bodyPr lIns="36000" rIns="36000"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E8651A"/>
                          </a:solidFill>
                        </a:rPr>
                        <a:t>零成本</a:t>
                      </a:r>
                    </a:p>
                  </a:txBody>
                  <a:tcPr>
                    <a:solidFill>
                      <a:srgbClr val="FFF6E3"/>
                    </a:solidFill>
                  </a:tcPr>
                </a:tc>
              </a:tr>
              <a:tr h="288000">
                <a:tc>
                  <a:txBody>
                    <a:bodyPr lIns="36000" rIns="36000"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A1410"/>
                          </a:solidFill>
                        </a:rPr>
                        <a:t>开发工作量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A1410"/>
                          </a:solidFill>
                        </a:rPr>
                        <a:t>中等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E8651A"/>
                          </a:solidFill>
                        </a:rPr>
                        <a:t>较低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0000" y="2880000"/>
            <a:ext cx="11160000" cy="432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1" i="0">
                <a:solidFill>
                  <a:srgbClr val="1A1410"/>
                </a:solidFill>
              </a:rPr>
              <a:t>风险</a:t>
            </a:r>
          </a:p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1A1410"/>
                </a:solidFill>
              </a:rPr>
              <a:t>：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0000" y="3276000"/>
          <a:ext cx="11160000" cy="115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80000"/>
                <a:gridCol w="4140000"/>
                <a:gridCol w="4140000"/>
              </a:tblGrid>
              <a:tr h="288000">
                <a:tc>
                  <a:txBody>
                    <a:bodyPr lIns="36000" rIns="36000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</a:rPr>
                        <a:t>风险</a:t>
                      </a:r>
                    </a:p>
                  </a:txBody>
                  <a:tcPr>
                    <a:solidFill>
                      <a:srgbClr val="E8651A"/>
                    </a:solidFill>
                  </a:tcPr>
                </a:tc>
                <a:tc>
                  <a:txBody>
                    <a:bodyPr lIns="36000" rIns="36000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</a:rPr>
                        <a:t>级别</a:t>
                      </a:r>
                    </a:p>
                  </a:txBody>
                  <a:tcPr>
                    <a:solidFill>
                      <a:srgbClr val="E8651A"/>
                    </a:solidFill>
                  </a:tcPr>
                </a:tc>
                <a:tc>
                  <a:txBody>
                    <a:bodyPr lIns="36000" rIns="36000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</a:rPr>
                        <a:t>缓解措施</a:t>
                      </a:r>
                    </a:p>
                  </a:txBody>
                  <a:tcPr>
                    <a:solidFill>
                      <a:srgbClr val="E8651A"/>
                    </a:solidFill>
                  </a:tcPr>
                </a:tc>
              </a:tr>
              <a:tr h="288000">
                <a:tc>
                  <a:txBody>
                    <a:bodyPr lIns="36000" rIns="36000"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A1410"/>
                          </a:solidFill>
                        </a:rPr>
                        <a:t>云端服务不可用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A1410"/>
                          </a:solidFill>
                        </a:rPr>
                        <a:t>低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A1410"/>
                          </a:solidFill>
                        </a:rPr>
                        <a:t>自动切离线模式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 lIns="36000" rIns="36000"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A1410"/>
                          </a:solidFill>
                        </a:rPr>
                        <a:t>GPU 兼容性</a:t>
                      </a:r>
                    </a:p>
                  </a:txBody>
                  <a:tcPr>
                    <a:solidFill>
                      <a:srgbClr val="FFF6E3"/>
                    </a:solidFill>
                  </a:tcPr>
                </a:tc>
                <a:tc>
                  <a:txBody>
                    <a:bodyPr lIns="36000" rIns="36000"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A1410"/>
                          </a:solidFill>
                        </a:rPr>
                        <a:t>中</a:t>
                      </a:r>
                    </a:p>
                  </a:txBody>
                  <a:tcPr>
                    <a:solidFill>
                      <a:srgbClr val="FFF6E3"/>
                    </a:solidFill>
                  </a:tcPr>
                </a:tc>
                <a:tc>
                  <a:txBody>
                    <a:bodyPr lIns="36000" rIns="36000"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A1410"/>
                          </a:solidFill>
                        </a:rPr>
                        <a:t>已验证两平台驱动</a:t>
                      </a:r>
                    </a:p>
                  </a:txBody>
                  <a:tcPr>
                    <a:solidFill>
                      <a:srgbClr val="FFF6E3"/>
                    </a:solidFill>
                  </a:tcPr>
                </a:tc>
              </a:tr>
              <a:tr h="288000">
                <a:tc>
                  <a:txBody>
                    <a:bodyPr lIns="36000" rIns="36000"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A1410"/>
                          </a:solidFill>
                        </a:rPr>
                        <a:t>模型性能不足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A1410"/>
                          </a:solidFill>
                        </a:rPr>
                        <a:t>低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A1410"/>
                          </a:solidFill>
                        </a:rPr>
                        <a:t>可切换更小模型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Oval 7"/>
          <p:cNvSpPr/>
          <p:nvPr/>
        </p:nvSpPr>
        <p:spPr>
          <a:xfrm>
            <a:off x="216000" y="6263999"/>
            <a:ext cx="64800" cy="64800"/>
          </a:xfrm>
          <a:prstGeom prst="ellipse">
            <a:avLst/>
          </a:prstGeom>
          <a:solidFill>
            <a:srgbClr val="E86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4000" y="6210000"/>
            <a:ext cx="5400000" cy="180000"/>
          </a:xfrm>
          <a:prstGeom prst="rect">
            <a:avLst/>
          </a:prstGeom>
          <a:noFill/>
        </p:spPr>
        <p:txBody>
          <a:bodyPr wrap="square" lIns="72000" rIns="72000" tIns="18000" bIns="18000">
            <a:spAutoFit/>
          </a:bodyPr>
          <a:lstStyle/>
          <a:p>
            <a:pPr algn="l"/>
            <a:r>
              <a:rPr sz="900" b="0" i="0">
                <a:solidFill>
                  <a:srgbClr val="9A8B7A"/>
                </a:solidFill>
              </a:rPr>
              <a:t>agent-meow · 010-client-overview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00000" y="6210000"/>
            <a:ext cx="1800000" cy="180000"/>
          </a:xfrm>
          <a:prstGeom prst="rect">
            <a:avLst/>
          </a:prstGeom>
          <a:noFill/>
        </p:spPr>
        <p:txBody>
          <a:bodyPr wrap="square" lIns="72000" rIns="72000" tIns="18000" bIns="18000">
            <a:spAutoFit/>
          </a:bodyPr>
          <a:lstStyle/>
          <a:p>
            <a:pPr algn="r"/>
            <a:r>
              <a:rPr sz="900" b="0" i="0">
                <a:solidFill>
                  <a:srgbClr val="9A8B7A"/>
                </a:solidFill>
              </a:rPr>
              <a:t>10 /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360000"/>
            <a:ext cx="11160000" cy="540000"/>
          </a:xfrm>
          <a:prstGeom prst="rect">
            <a:avLst/>
          </a:prstGeom>
          <a:noFill/>
        </p:spPr>
        <p:txBody>
          <a:bodyPr wrap="square" lIns="72000" rIns="72000" tIns="18000" bIns="18000">
            <a:spAutoFit/>
          </a:bodyPr>
          <a:lstStyle/>
          <a:p>
            <a:pPr algn="l"/>
            <a:r>
              <a:rPr sz="3000" b="1" i="0">
                <a:solidFill>
                  <a:srgbClr val="1A1410"/>
                </a:solidFill>
              </a:rPr>
              <a:t>项目愿景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72000"/>
            <a:ext cx="12192119" cy="43200"/>
          </a:xfrm>
          <a:prstGeom prst="rect">
            <a:avLst/>
          </a:prstGeom>
          <a:solidFill>
            <a:srgbClr val="E86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0000" y="1188000"/>
            <a:ext cx="11160000" cy="432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1" i="0">
                <a:solidFill>
                  <a:srgbClr val="1A1410"/>
                </a:solidFill>
              </a:rPr>
              <a:t>agent-meow</a:t>
            </a:r>
          </a:p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1A1410"/>
                </a:solidFill>
              </a:rPr>
              <a:t> 是一个语音优先的 AI 代理，用户通过说话即可：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8000" y="1584000"/>
            <a:ext cx="10980000" cy="4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>
                <a:solidFill>
                  <a:srgbClr val="E8651A"/>
                </a:solidFill>
              </a:rPr>
              <a:t>▸ </a:t>
            </a:r>
            <a:r>
              <a:rPr sz="1600" b="0" i="0">
                <a:solidFill>
                  <a:srgbClr val="1A1410"/>
                </a:solidFill>
              </a:rPr>
              <a:t>💬 </a:t>
            </a:r>
            <a:r>
              <a:rPr sz="1600" b="1" i="0">
                <a:solidFill>
                  <a:srgbClr val="1A1410"/>
                </a:solidFill>
              </a:rPr>
              <a:t>对话</a:t>
            </a:r>
            <a:r>
              <a:rPr sz="1600" b="0" i="0">
                <a:solidFill>
                  <a:srgbClr val="1A1410"/>
                </a:solidFill>
              </a:rPr>
              <a:t>：自然语言交流，中英文双语</a:t>
            </a:r>
          </a:p>
          <a:p>
            <a:pPr algn="l">
              <a:lnSpc>
                <a:spcPct val="125000"/>
              </a:lnSpc>
            </a:pPr>
            <a:r>
              <a:rPr sz="1600" b="1">
                <a:solidFill>
                  <a:srgbClr val="E8651A"/>
                </a:solidFill>
              </a:rPr>
              <a:t>▸ </a:t>
            </a:r>
            <a:r>
              <a:rPr sz="1600" b="0" i="0">
                <a:solidFill>
                  <a:srgbClr val="1A1410"/>
                </a:solidFill>
              </a:rPr>
              <a:t>🔧 </a:t>
            </a:r>
            <a:r>
              <a:rPr sz="1600" b="1" i="0">
                <a:solidFill>
                  <a:srgbClr val="1A1410"/>
                </a:solidFill>
              </a:rPr>
              <a:t>执行任务</a:t>
            </a:r>
            <a:r>
              <a:rPr sz="1600" b="0" i="0">
                <a:solidFill>
                  <a:srgbClr val="1A1410"/>
                </a:solidFill>
              </a:rPr>
              <a:t>：调用代码、文件、搜索等工具</a:t>
            </a:r>
          </a:p>
          <a:p>
            <a:pPr algn="l">
              <a:lnSpc>
                <a:spcPct val="125000"/>
              </a:lnSpc>
            </a:pPr>
            <a:r>
              <a:rPr sz="1600" b="1">
                <a:solidFill>
                  <a:srgbClr val="E8651A"/>
                </a:solidFill>
              </a:rPr>
              <a:t>▸ </a:t>
            </a:r>
            <a:r>
              <a:rPr sz="1600" b="0" i="0">
                <a:solidFill>
                  <a:srgbClr val="1A1410"/>
                </a:solidFill>
              </a:rPr>
              <a:t>🏠 </a:t>
            </a:r>
            <a:r>
              <a:rPr sz="1600" b="1" i="0">
                <a:solidFill>
                  <a:srgbClr val="1A1410"/>
                </a:solidFill>
              </a:rPr>
              <a:t>完全本地</a:t>
            </a:r>
            <a:r>
              <a:rPr sz="1600" b="0" i="0">
                <a:solidFill>
                  <a:srgbClr val="1A1410"/>
                </a:solidFill>
              </a:rPr>
              <a:t>：离线可用，零云端费用</a:t>
            </a:r>
          </a:p>
          <a:p>
            <a:pPr algn="l">
              <a:lnSpc>
                <a:spcPct val="125000"/>
              </a:lnSpc>
            </a:pPr>
            <a:r>
              <a:rPr sz="1600" b="1">
                <a:solidFill>
                  <a:srgbClr val="E8651A"/>
                </a:solidFill>
              </a:rPr>
              <a:t>▸ </a:t>
            </a:r>
            <a:r>
              <a:rPr sz="1600" b="0" i="0">
                <a:solidFill>
                  <a:srgbClr val="1A1410"/>
                </a:solidFill>
              </a:rPr>
              <a:t>🎨 </a:t>
            </a:r>
            <a:r>
              <a:rPr sz="1600" b="1" i="0">
                <a:solidFill>
                  <a:srgbClr val="1A1410"/>
                </a:solidFill>
              </a:rPr>
              <a:t>品牌体验</a:t>
            </a:r>
            <a:r>
              <a:rPr sz="1600" b="0" i="0">
                <a:solidFill>
                  <a:srgbClr val="1A1410"/>
                </a:solidFill>
              </a:rPr>
              <a:t>：猫爪 UI，独特的交互设计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0000" y="2664000"/>
            <a:ext cx="11160000" cy="432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1" i="0">
                <a:solidFill>
                  <a:srgbClr val="1A1410"/>
                </a:solidFill>
              </a:rPr>
              <a:t>双平台覆盖</a:t>
            </a:r>
          </a:p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1A1410"/>
                </a:solidFill>
              </a:rPr>
              <a:t>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8000" y="3060000"/>
            <a:ext cx="10980000" cy="4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>
                <a:solidFill>
                  <a:srgbClr val="E8651A"/>
                </a:solidFill>
              </a:rPr>
              <a:t>▸ </a:t>
            </a:r>
            <a:r>
              <a:rPr sz="1600" b="0" i="0">
                <a:solidFill>
                  <a:srgbClr val="1A1410"/>
                </a:solidFill>
              </a:rPr>
              <a:t>灵创K16 面向高端用户（96GB 显存，最大模型）</a:t>
            </a:r>
          </a:p>
          <a:p>
            <a:pPr algn="l">
              <a:lnSpc>
                <a:spcPct val="125000"/>
              </a:lnSpc>
            </a:pPr>
            <a:r>
              <a:rPr sz="1600" b="1">
                <a:solidFill>
                  <a:srgbClr val="E8651A"/>
                </a:solidFill>
              </a:rPr>
              <a:t>▸ </a:t>
            </a:r>
            <a:r>
              <a:rPr sz="1600" b="0" i="0">
                <a:solidFill>
                  <a:srgbClr val="1A1410"/>
                </a:solidFill>
              </a:rPr>
              <a:t>橘宝R16 面向主流用户（RTX 5060 CUDA，性价比高）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0000" y="3636000"/>
            <a:ext cx="11160000" cy="432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1A1410"/>
                </a:solidFill>
              </a:rPr>
              <a:t>两个平台运行同一软件，提供同一体验，适配不同硬件。</a:t>
            </a:r>
          </a:p>
        </p:txBody>
      </p:sp>
      <p:sp>
        <p:nvSpPr>
          <p:cNvPr id="9" name="Oval 8"/>
          <p:cNvSpPr/>
          <p:nvPr/>
        </p:nvSpPr>
        <p:spPr>
          <a:xfrm>
            <a:off x="216000" y="6263999"/>
            <a:ext cx="64800" cy="64800"/>
          </a:xfrm>
          <a:prstGeom prst="ellipse">
            <a:avLst/>
          </a:prstGeom>
          <a:solidFill>
            <a:srgbClr val="E86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4000" y="6210000"/>
            <a:ext cx="5400000" cy="180000"/>
          </a:xfrm>
          <a:prstGeom prst="rect">
            <a:avLst/>
          </a:prstGeom>
          <a:noFill/>
        </p:spPr>
        <p:txBody>
          <a:bodyPr wrap="square" lIns="72000" rIns="72000" tIns="18000" bIns="18000">
            <a:spAutoFit/>
          </a:bodyPr>
          <a:lstStyle/>
          <a:p>
            <a:pPr algn="l"/>
            <a:r>
              <a:rPr sz="900" b="0" i="0">
                <a:solidFill>
                  <a:srgbClr val="9A8B7A"/>
                </a:solidFill>
              </a:rPr>
              <a:t>agent-meow · 010-client-overview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00000" y="6210000"/>
            <a:ext cx="1800000" cy="180000"/>
          </a:xfrm>
          <a:prstGeom prst="rect">
            <a:avLst/>
          </a:prstGeom>
          <a:noFill/>
        </p:spPr>
        <p:txBody>
          <a:bodyPr wrap="square" lIns="72000" rIns="72000" tIns="18000" bIns="18000">
            <a:spAutoFit/>
          </a:bodyPr>
          <a:lstStyle/>
          <a:p>
            <a:pPr algn="r"/>
            <a:r>
              <a:rPr sz="900" b="0" i="0">
                <a:solidFill>
                  <a:srgbClr val="9A8B7A"/>
                </a:solidFill>
              </a:rPr>
              <a:t>11 /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